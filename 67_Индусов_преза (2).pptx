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70" r:id="rId5"/>
  </p:sldMasterIdLst>
  <p:notesMasterIdLst>
    <p:notesMasterId r:id="rId25"/>
  </p:notesMasterIdLst>
  <p:sldIdLst>
    <p:sldId id="256" r:id="rId6"/>
    <p:sldId id="296" r:id="rId7"/>
    <p:sldId id="286" r:id="rId8"/>
    <p:sldId id="303" r:id="rId9"/>
    <p:sldId id="306" r:id="rId10"/>
    <p:sldId id="298" r:id="rId11"/>
    <p:sldId id="304" r:id="rId12"/>
    <p:sldId id="292" r:id="rId13"/>
    <p:sldId id="288" r:id="rId14"/>
    <p:sldId id="293" r:id="rId15"/>
    <p:sldId id="294" r:id="rId16"/>
    <p:sldId id="305" r:id="rId17"/>
    <p:sldId id="297" r:id="rId18"/>
    <p:sldId id="302" r:id="rId19"/>
    <p:sldId id="262" r:id="rId20"/>
    <p:sldId id="263" r:id="rId21"/>
    <p:sldId id="264" r:id="rId22"/>
    <p:sldId id="265" r:id="rId23"/>
    <p:sldId id="266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B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72"/>
    <p:restoredTop sz="94606"/>
  </p:normalViewPr>
  <p:slideViewPr>
    <p:cSldViewPr snapToGrid="0">
      <p:cViewPr varScale="1">
        <p:scale>
          <a:sx n="56" d="100"/>
          <a:sy n="56" d="100"/>
        </p:scale>
        <p:origin x="256" y="33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ru-RU" sz="3000" b="1" dirty="0"/>
              <a:t>км на выполненную заявку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FIFO</c:v>
                </c:pt>
              </c:strCache>
            </c:strRef>
          </c:tx>
          <c:spPr>
            <a:solidFill>
              <a:srgbClr val="1C1C1C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Восток</c:v>
                </c:pt>
                <c:pt idx="1">
                  <c:v>Юго-восток</c:v>
                </c:pt>
                <c:pt idx="2">
                  <c:v>Югоцентр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7.3</c:v>
                </c:pt>
                <c:pt idx="1">
                  <c:v>7.14</c:v>
                </c:pt>
                <c:pt idx="2">
                  <c:v>8.35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D3E-4A2F-9DD9-61925B890C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Оптимизатор</c:v>
                </c:pt>
              </c:strCache>
            </c:strRef>
          </c:tx>
          <c:spPr>
            <a:solidFill>
              <a:srgbClr val="FFC800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Восток</c:v>
                </c:pt>
                <c:pt idx="1">
                  <c:v>Юго-восток</c:v>
                </c:pt>
                <c:pt idx="2">
                  <c:v>Югоцентр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4.2</c:v>
                </c:pt>
                <c:pt idx="1">
                  <c:v>4.1100000000000003</c:v>
                </c:pt>
                <c:pt idx="2">
                  <c:v>5.53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D3E-4A2F-9DD9-61925B890C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600"/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ru-RU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2600"/>
          </a:pPr>
          <a:endParaRPr lang="ru-RU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4" name="Shape 19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9B8682-549C-E1BB-F508-D1525C1FC77B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F3B14-7AC8-406F-A299-37D374056E4F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F3B14-7AC8-406F-A299-37D374056E4F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ru-RU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299260-C65D-4A5C-3C37-B22449FEC14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0" y="11859862"/>
            <a:ext cx="2197100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Автор и дата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5" cy="4648203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Подзаголовок презентации</a:t>
            </a:r>
          </a:p>
        </p:txBody>
      </p:sp>
      <p:sp>
        <p:nvSpPr>
          <p:cNvPr id="1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2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Заголовок презентации</a:t>
            </a:r>
          </a:p>
        </p:txBody>
      </p:sp>
      <p:sp>
        <p:nvSpPr>
          <p:cNvPr id="2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7690" y="1106137"/>
            <a:ext cx="21968621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Автор и дата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Уровень текста 1…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6500" y="11609909"/>
            <a:ext cx="21971000" cy="111695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Подзаголовок презентации</a:t>
            </a:r>
          </a:p>
        </p:txBody>
      </p:sp>
      <p:sp>
        <p:nvSpPr>
          <p:cNvPr id="2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3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r>
              <a:t>Заголовок слайда</a:t>
            </a:r>
          </a:p>
        </p:txBody>
      </p:sp>
      <p:sp>
        <p:nvSpPr>
          <p:cNvPr id="3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Уровень текста 1…"/>
          <p:cNvSpPr txBox="1">
            <a:spLocks noGrp="1"/>
          </p:cNvSpPr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/>
          <a:p>
            <a:r>
              <a:t>Текст пункта на слайде</a:t>
            </a:r>
          </a:p>
        </p:txBody>
      </p:sp>
      <p:sp>
        <p:nvSpPr>
          <p:cNvPr id="4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1" name="Уровень текста 1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r>
              <a:t>Текст пункта на слайде</a:t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6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6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Заголовок раздела</a:t>
            </a:r>
          </a:p>
        </p:txBody>
      </p:sp>
      <p:sp>
        <p:nvSpPr>
          <p:cNvPr id="7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51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8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Заголовок повестки дня</a:t>
            </a:r>
          </a:p>
        </p:txBody>
      </p:sp>
      <p:sp>
        <p:nvSpPr>
          <p:cNvPr id="8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повестки дня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99"/>
            </a:lvl1pPr>
          </a:lstStyle>
          <a:p>
            <a:r>
              <a:t>Темы повестки дня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Информационное сообщение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5"/>
            <a:ext cx="21971000" cy="7241587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Информация о факте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Информация о факте</a:t>
            </a:r>
          </a:p>
        </p:txBody>
      </p:sp>
      <p:sp>
        <p:nvSpPr>
          <p:cNvPr id="10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430023" y="10675453"/>
            <a:ext cx="2020005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Авторство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Уровень текста 1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1753923" y="4939860"/>
            <a:ext cx="20876154" cy="3836282"/>
          </a:xfrm>
          <a:prstGeom prst="rect">
            <a:avLst/>
          </a:prstGeom>
        </p:spPr>
        <p:txBody>
          <a:bodyPr numCol="1" spcCol="38100"/>
          <a:lstStyle>
            <a:lvl1pPr marL="300875" indent="-131851">
              <a:spcBef>
                <a:spcPts val="0"/>
              </a:spcBef>
              <a:buSzTx/>
              <a:buNone/>
              <a:defRPr sz="8500" spc="-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«Важная цитата»</a:t>
            </a:r>
          </a:p>
        </p:txBody>
      </p:sp>
      <p:sp>
        <p:nvSpPr>
          <p:cNvPr id="11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Миска салата с жареным рисом, варёными яйцами и палочками для еды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5" name="Тарелка с рублеными котлетами из лосося, салатом и хумусом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6" name="Тарелка пасты папарделле с зелёным маслом из петрушки, жареным фундуком и стружкой сыра пармезан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миска салата с жареным рисом, варёными яйцами и палочками для еды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3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0" y="11859862"/>
            <a:ext cx="2197100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Author and Date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0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5" cy="4648203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51" name="Уровень текста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Presentation Subtitle</a:t>
            </a:r>
          </a:p>
        </p:txBody>
      </p:sp>
      <p:sp>
        <p:nvSpPr>
          <p:cNvPr id="15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346" y="712670"/>
            <a:ext cx="575067" cy="574669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19196" y="565867"/>
            <a:ext cx="20918184" cy="1201292"/>
          </a:xfrm>
          <a:prstGeom prst="rect">
            <a:avLst/>
          </a:prstGeom>
        </p:spPr>
        <p:txBody>
          <a:bodyPr lIns="91437" tIns="91437" rIns="91437" bIns="91437"/>
          <a:lstStyle>
            <a:lvl1pPr defTabSz="1828800">
              <a:lnSpc>
                <a:spcPct val="90000"/>
              </a:lnSpc>
              <a:defRPr sz="7000" b="0" spc="0">
                <a:solidFill>
                  <a:srgbClr val="FFFFFF"/>
                </a:solidFill>
                <a:latin typeface="Beeline Sans Medium"/>
                <a:ea typeface="Beeline Sans Medium"/>
                <a:cs typeface="Beeline Sans Medium"/>
                <a:sym typeface="Beeline Sans Medium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6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6969338" y="12456162"/>
            <a:ext cx="505863" cy="513077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1828800">
              <a:defRPr sz="2400">
                <a:solidFill>
                  <a:srgbClr val="262626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 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19196" y="565867"/>
            <a:ext cx="20918184" cy="1201292"/>
          </a:xfrm>
          <a:prstGeom prst="rect">
            <a:avLst/>
          </a:prstGeom>
        </p:spPr>
        <p:txBody>
          <a:bodyPr lIns="91437" tIns="91437" rIns="91437" bIns="91437"/>
          <a:lstStyle>
            <a:lvl1pPr defTabSz="1828800">
              <a:lnSpc>
                <a:spcPct val="90000"/>
              </a:lnSpc>
              <a:defRPr sz="7000" b="0" spc="0">
                <a:solidFill>
                  <a:srgbClr val="FFFFFF"/>
                </a:solidFill>
                <a:latin typeface="Beeline Sans Medium"/>
                <a:ea typeface="Beeline Sans Medium"/>
                <a:cs typeface="Beeline Sans Medium"/>
                <a:sym typeface="Beeline Sans Medium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69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6969338" y="12456162"/>
            <a:ext cx="505863" cy="513077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1828800">
              <a:defRPr sz="2400">
                <a:solidFill>
                  <a:srgbClr val="262626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13877" y="672502"/>
            <a:ext cx="21031202" cy="1387311"/>
          </a:xfrm>
          <a:prstGeom prst="rect">
            <a:avLst/>
          </a:prstGeom>
        </p:spPr>
        <p:txBody>
          <a:bodyPr lIns="91437" tIns="91437" rIns="91437" bIns="91437" anchor="ctr"/>
          <a:lstStyle>
            <a:lvl1pPr defTabSz="1828754">
              <a:lnSpc>
                <a:spcPct val="90000"/>
              </a:lnSpc>
              <a:defRPr sz="9000" b="0" spc="0"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7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0" y="0"/>
            <a:ext cx="2542" cy="2542"/>
          </a:xfrm>
          <a:prstGeom prst="rect">
            <a:avLst/>
          </a:prstGeom>
        </p:spPr>
        <p:txBody>
          <a:bodyPr lIns="91437" tIns="91437" rIns="91437" bIns="91437" numCol="1" spcCol="38100"/>
          <a:lstStyle>
            <a:lvl1pPr marL="457187" indent="-457187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1pPr>
            <a:lvl2pPr marL="990575" indent="-533384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2pPr>
            <a:lvl3pPr marL="1554440" indent="-640063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3pPr>
            <a:lvl4pPr marL="2082747" indent="-711181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4pPr>
            <a:lvl5pPr marL="2539936" indent="-711181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7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0" y="0"/>
            <a:ext cx="661006" cy="678176"/>
          </a:xfrm>
          <a:prstGeom prst="rect">
            <a:avLst/>
          </a:prstGeom>
        </p:spPr>
        <p:txBody>
          <a:bodyPr lIns="91437" tIns="91437" rIns="91437" bIns="91437" anchor="t"/>
          <a:lstStyle>
            <a:lvl1pPr algn="l" defTabSz="1828754">
              <a:defRPr sz="3600"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лайд без лиг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152001" y="648130"/>
            <a:ext cx="19972510" cy="960010"/>
          </a:xfrm>
          <a:prstGeom prst="rect">
            <a:avLst/>
          </a:prstGeom>
        </p:spPr>
        <p:txBody>
          <a:bodyPr lIns="91437" tIns="91437" rIns="91437" bIns="91437"/>
          <a:lstStyle>
            <a:lvl1pPr defTabSz="1828754">
              <a:lnSpc>
                <a:spcPct val="90000"/>
              </a:lnSpc>
              <a:defRPr sz="9000" b="0" spc="0"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r>
              <a:t>Заголовок слайда</a:t>
            </a:r>
          </a:p>
        </p:txBody>
      </p:sp>
      <p:pic>
        <p:nvPicPr>
          <p:cNvPr id="186" name="Рисунок 4" descr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7750" y="807259"/>
            <a:ext cx="641745" cy="641745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6969338" y="12456162"/>
            <a:ext cx="505863" cy="513077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1828754">
              <a:defRPr sz="2400"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3584000" y="790576"/>
            <a:ext cx="10800000" cy="108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" y="8646881"/>
            <a:ext cx="17861282" cy="1654022"/>
          </a:xfrm>
          <a:prstGeom prst="rect">
            <a:avLst/>
          </a:prstGeom>
          <a:noFill/>
        </p:spPr>
        <p:txBody>
          <a:bodyPr anchor="ctr" anchorCtr="0"/>
          <a:lstStyle>
            <a:lvl1pPr marL="0" indent="1425576" algn="l">
              <a:defRPr sz="5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1605281" y="5823961"/>
            <a:ext cx="6773546" cy="2165178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" y="10299702"/>
            <a:ext cx="17861282" cy="151434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1425576">
              <a:buNone/>
              <a:defRPr sz="3600"/>
            </a:lvl1pPr>
          </a:lstStyle>
          <a:p>
            <a:pPr>
              <a:defRPr/>
            </a:pPr>
            <a:r>
              <a:rPr lang="ru-RU" sz="3200" b="0"/>
              <a:t>Номер и название задачи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575713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3584000" y="790576"/>
            <a:ext cx="10800000" cy="108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" y="8646881"/>
            <a:ext cx="17861282" cy="1654022"/>
          </a:xfrm>
          <a:prstGeom prst="rect">
            <a:avLst/>
          </a:prstGeom>
          <a:noFill/>
        </p:spPr>
        <p:txBody>
          <a:bodyPr anchor="ctr" anchorCtr="0"/>
          <a:lstStyle>
            <a:lvl1pPr marL="0" indent="1425576" algn="l">
              <a:defRPr sz="5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1605281" y="5823961"/>
            <a:ext cx="6773546" cy="2165178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" y="10299702"/>
            <a:ext cx="17861282" cy="151434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1425576">
              <a:buNone/>
              <a:defRPr sz="3600"/>
            </a:lvl1pPr>
          </a:lstStyle>
          <a:p>
            <a:pPr>
              <a:defRPr/>
            </a:pPr>
            <a:r>
              <a:rPr lang="ru-RU" sz="3200" b="0"/>
              <a:t>Номер и название задачи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3976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3788191" y="2088162"/>
            <a:ext cx="9925886" cy="4443648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92150" y="790576"/>
            <a:ext cx="22489544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25808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92150" y="790576"/>
            <a:ext cx="22489544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12647" y="8384248"/>
            <a:ext cx="3687162" cy="3152996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89376" indent="-289376">
              <a:buClr>
                <a:schemeClr val="accent1"/>
              </a:buClr>
              <a:buFont typeface="Wingdings"/>
              <a:buChar char="§"/>
              <a:defRPr sz="28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6029137" y="8384248"/>
            <a:ext cx="3687162" cy="3152996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89376" indent="-289376">
              <a:buClr>
                <a:schemeClr val="accent1"/>
              </a:buClr>
              <a:buFont typeface="Wingdings"/>
              <a:buChar char="§"/>
              <a:defRPr sz="28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0382385" y="8384248"/>
            <a:ext cx="3687162" cy="3152996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89376" indent="-289376">
              <a:buClr>
                <a:schemeClr val="accent1"/>
              </a:buClr>
              <a:buFont typeface="Wingdings"/>
              <a:buChar char="§"/>
              <a:defRPr sz="28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733289" y="8384248"/>
            <a:ext cx="3687162" cy="3152996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89376" indent="-289376">
              <a:buClr>
                <a:schemeClr val="accent1"/>
              </a:buClr>
              <a:buFont typeface="Wingdings"/>
              <a:buChar char="§"/>
              <a:defRPr sz="28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084193" y="8384248"/>
            <a:ext cx="3687162" cy="3152996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89376" indent="-289376">
              <a:buClr>
                <a:schemeClr val="accent1"/>
              </a:buClr>
              <a:buFont typeface="Wingdings"/>
              <a:buChar char="§"/>
              <a:defRPr sz="28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13281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2290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630785" y="2032355"/>
            <a:ext cx="23122458" cy="10321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692150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87608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630774" y="2032002"/>
            <a:ext cx="11408836" cy="1036954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12344412" y="2032002"/>
            <a:ext cx="11340944" cy="1036954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692150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043114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630773" y="2030855"/>
            <a:ext cx="11364386" cy="730250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578756" indent="0">
              <a:buNone/>
              <a:defRPr sz="2500" b="1"/>
            </a:lvl2pPr>
            <a:lvl3pPr marL="1157510" indent="0">
              <a:buNone/>
              <a:defRPr sz="2300" b="1"/>
            </a:lvl3pPr>
            <a:lvl4pPr marL="1736264" indent="0">
              <a:buNone/>
              <a:defRPr sz="2000" b="1"/>
            </a:lvl4pPr>
            <a:lvl5pPr marL="2315020" indent="0">
              <a:buNone/>
              <a:defRPr sz="2000" b="1"/>
            </a:lvl5pPr>
            <a:lvl6pPr marL="2893774" indent="0">
              <a:buNone/>
              <a:defRPr sz="2000" b="1"/>
            </a:lvl6pPr>
            <a:lvl7pPr marL="3472532" indent="0">
              <a:buNone/>
              <a:defRPr sz="2000" b="1"/>
            </a:lvl7pPr>
            <a:lvl8pPr marL="4051288" indent="0">
              <a:buNone/>
              <a:defRPr sz="2000" b="1"/>
            </a:lvl8pPr>
            <a:lvl9pPr marL="4630042" indent="0">
              <a:buNone/>
              <a:defRPr sz="2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698668" y="3197230"/>
            <a:ext cx="11296500" cy="920432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12344411" y="2030855"/>
            <a:ext cx="11369682" cy="730250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578756" indent="0">
              <a:buNone/>
              <a:defRPr sz="2500" b="1"/>
            </a:lvl2pPr>
            <a:lvl3pPr marL="1157510" indent="0">
              <a:buNone/>
              <a:defRPr sz="2300" b="1"/>
            </a:lvl3pPr>
            <a:lvl4pPr marL="1736264" indent="0">
              <a:buNone/>
              <a:defRPr sz="2000" b="1"/>
            </a:lvl4pPr>
            <a:lvl5pPr marL="2315020" indent="0">
              <a:buNone/>
              <a:defRPr sz="2000" b="1"/>
            </a:lvl5pPr>
            <a:lvl6pPr marL="2893774" indent="0">
              <a:buNone/>
              <a:defRPr sz="2000" b="1"/>
            </a:lvl6pPr>
            <a:lvl7pPr marL="3472532" indent="0">
              <a:buNone/>
              <a:defRPr sz="2000" b="1"/>
            </a:lvl7pPr>
            <a:lvl8pPr marL="4051288" indent="0">
              <a:buNone/>
              <a:defRPr sz="2000" b="1"/>
            </a:lvl8pPr>
            <a:lvl9pPr marL="4630042" indent="0">
              <a:buNone/>
              <a:defRPr sz="2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12344404" y="3197230"/>
            <a:ext cx="11340944" cy="920432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698668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65044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230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669932" y="2031999"/>
            <a:ext cx="8874124" cy="2426834"/>
          </a:xfrm>
        </p:spPr>
        <p:txBody>
          <a:bodyPr anchor="b"/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10366389" y="2031999"/>
            <a:ext cx="13347694" cy="10099042"/>
          </a:xfrm>
        </p:spPr>
        <p:txBody>
          <a:bodyPr>
            <a:normAutofit/>
          </a:bodyPr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69932" y="4856479"/>
            <a:ext cx="8874124" cy="727456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578756" indent="0">
              <a:buNone/>
              <a:defRPr sz="1800"/>
            </a:lvl2pPr>
            <a:lvl3pPr marL="1157510" indent="0">
              <a:buNone/>
              <a:defRPr sz="1500"/>
            </a:lvl3pPr>
            <a:lvl4pPr marL="1736264" indent="0">
              <a:buNone/>
              <a:defRPr sz="1300"/>
            </a:lvl4pPr>
            <a:lvl5pPr marL="2315020" indent="0">
              <a:buNone/>
              <a:defRPr sz="1300"/>
            </a:lvl5pPr>
            <a:lvl6pPr marL="2893774" indent="0">
              <a:buNone/>
              <a:defRPr sz="1300"/>
            </a:lvl6pPr>
            <a:lvl7pPr marL="3472532" indent="0">
              <a:buNone/>
              <a:defRPr sz="1300"/>
            </a:lvl7pPr>
            <a:lvl8pPr marL="4051288" indent="0">
              <a:buNone/>
              <a:defRPr sz="1300"/>
            </a:lvl8pPr>
            <a:lvl9pPr marL="4630042" indent="0">
              <a:buNone/>
              <a:defRPr sz="13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1028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1605281" y="7845058"/>
            <a:ext cx="10586718" cy="3309084"/>
          </a:xfrm>
        </p:spPr>
        <p:txBody>
          <a:bodyPr anchor="ctr" anchorCtr="0"/>
          <a:lstStyle>
            <a:lvl1pPr algn="l">
              <a:defRPr sz="5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2198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3747082" y="2445426"/>
            <a:ext cx="7733712" cy="847256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3747088" y="3580649"/>
            <a:ext cx="7733712" cy="1344150"/>
          </a:xfrm>
        </p:spPr>
        <p:txBody>
          <a:bodyPr>
            <a:normAutofit/>
          </a:bodyPr>
          <a:lstStyle>
            <a:lvl2pPr>
              <a:defRPr sz="28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3708370" y="5653394"/>
            <a:ext cx="7733712" cy="807512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3708370" y="6748873"/>
            <a:ext cx="7733712" cy="1344150"/>
          </a:xfrm>
        </p:spPr>
        <p:txBody>
          <a:bodyPr>
            <a:normAutofit/>
          </a:bodyPr>
          <a:lstStyle>
            <a:lvl2pPr>
              <a:defRPr sz="28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3708370" y="8821619"/>
            <a:ext cx="7733712" cy="807826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708370" y="9917097"/>
            <a:ext cx="7733712" cy="1344150"/>
          </a:xfrm>
        </p:spPr>
        <p:txBody>
          <a:bodyPr>
            <a:normAutofit/>
          </a:bodyPr>
          <a:lstStyle>
            <a:lvl2pPr>
              <a:defRPr sz="28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15093296" y="2445426"/>
            <a:ext cx="7733712" cy="847256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15093302" y="3580649"/>
            <a:ext cx="7733712" cy="1344150"/>
          </a:xfrm>
        </p:spPr>
        <p:txBody>
          <a:bodyPr>
            <a:normAutofit/>
          </a:bodyPr>
          <a:lstStyle>
            <a:lvl2pPr>
              <a:defRPr sz="28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15054584" y="5653394"/>
            <a:ext cx="7733712" cy="807512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15054584" y="6748873"/>
            <a:ext cx="7733712" cy="1344150"/>
          </a:xfrm>
        </p:spPr>
        <p:txBody>
          <a:bodyPr>
            <a:normAutofit/>
          </a:bodyPr>
          <a:lstStyle>
            <a:lvl2pPr>
              <a:defRPr sz="28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15054584" y="8821619"/>
            <a:ext cx="7733712" cy="807826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15054584" y="9917097"/>
            <a:ext cx="7733712" cy="1344150"/>
          </a:xfrm>
        </p:spPr>
        <p:txBody>
          <a:bodyPr>
            <a:normAutofit/>
          </a:bodyPr>
          <a:lstStyle>
            <a:lvl2pPr>
              <a:defRPr sz="28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692150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1556985" y="2375976"/>
            <a:ext cx="1542006" cy="847256"/>
          </a:xfrm>
        </p:spPr>
        <p:txBody>
          <a:bodyPr>
            <a:noAutofit/>
          </a:bodyPr>
          <a:lstStyle>
            <a:lvl1pPr marL="0" indent="0">
              <a:buNone/>
              <a:defRPr sz="56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1518275" y="5583944"/>
            <a:ext cx="1542006" cy="807512"/>
          </a:xfrm>
        </p:spPr>
        <p:txBody>
          <a:bodyPr>
            <a:noAutofit/>
          </a:bodyPr>
          <a:lstStyle>
            <a:lvl1pPr marL="0" indent="0">
              <a:buNone/>
              <a:defRPr sz="56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1518275" y="8752169"/>
            <a:ext cx="1542006" cy="807826"/>
          </a:xfrm>
        </p:spPr>
        <p:txBody>
          <a:bodyPr>
            <a:noAutofit/>
          </a:bodyPr>
          <a:lstStyle>
            <a:lvl1pPr marL="0" indent="0">
              <a:buNone/>
              <a:defRPr sz="56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12903201" y="2375976"/>
            <a:ext cx="1542006" cy="847256"/>
          </a:xfrm>
        </p:spPr>
        <p:txBody>
          <a:bodyPr>
            <a:noAutofit/>
          </a:bodyPr>
          <a:lstStyle>
            <a:lvl1pPr marL="0" indent="0">
              <a:buNone/>
              <a:defRPr sz="56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12864489" y="5583944"/>
            <a:ext cx="1542006" cy="807512"/>
          </a:xfrm>
        </p:spPr>
        <p:txBody>
          <a:bodyPr>
            <a:noAutofit/>
          </a:bodyPr>
          <a:lstStyle>
            <a:lvl1pPr marL="0" indent="0">
              <a:buNone/>
              <a:defRPr sz="56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12864489" y="8752169"/>
            <a:ext cx="1542006" cy="807826"/>
          </a:xfrm>
        </p:spPr>
        <p:txBody>
          <a:bodyPr>
            <a:noAutofit/>
          </a:bodyPr>
          <a:lstStyle>
            <a:lvl1pPr marL="0" indent="0">
              <a:buNone/>
              <a:defRPr sz="56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35333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745364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14880295" y="2032003"/>
            <a:ext cx="8811554" cy="615695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14880299" y="8778216"/>
            <a:ext cx="8811550" cy="3623336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692150" y="6447897"/>
            <a:ext cx="13612284" cy="5953654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692150" y="2032002"/>
            <a:ext cx="13612284" cy="4059764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03156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722214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988606" y="5947484"/>
            <a:ext cx="4381620" cy="1821032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13325846" y="3176257"/>
            <a:ext cx="9804400" cy="14251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13325846" y="4890277"/>
            <a:ext cx="9804400" cy="14251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13325846" y="6604295"/>
            <a:ext cx="9804400" cy="14251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13325846" y="8318313"/>
            <a:ext cx="9804400" cy="14251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13325846" y="10032333"/>
            <a:ext cx="9804400" cy="14251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39675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722214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13366154" y="2053734"/>
            <a:ext cx="9580628" cy="323071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13366154" y="3253865"/>
            <a:ext cx="9580628" cy="20305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13366154" y="5615164"/>
            <a:ext cx="9580628" cy="323071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13366154" y="6815295"/>
            <a:ext cx="9580628" cy="20305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13366154" y="9168058"/>
            <a:ext cx="9580628" cy="323071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13366154" y="10368189"/>
            <a:ext cx="9580628" cy="20305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59254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699064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13366154" y="2032001"/>
            <a:ext cx="9580628" cy="204340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13366154" y="2791074"/>
            <a:ext cx="9580628" cy="12843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13366154" y="4569123"/>
            <a:ext cx="9580628" cy="204340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13366154" y="5328196"/>
            <a:ext cx="9580628" cy="12843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13366154" y="7106245"/>
            <a:ext cx="9580628" cy="204340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13366154" y="7865316"/>
            <a:ext cx="9580628" cy="12843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13366154" y="9643369"/>
            <a:ext cx="9580628" cy="204340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13366154" y="10402442"/>
            <a:ext cx="9580628" cy="12843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76088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735442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13366154" y="2032001"/>
            <a:ext cx="9580628" cy="204340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13366154" y="2791074"/>
            <a:ext cx="9580628" cy="12843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13366154" y="4569123"/>
            <a:ext cx="9580628" cy="204340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13366154" y="5328196"/>
            <a:ext cx="9580628" cy="12843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13366154" y="7106245"/>
            <a:ext cx="9580628" cy="204340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13366154" y="7865316"/>
            <a:ext cx="9580628" cy="12843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13366154" y="9643369"/>
            <a:ext cx="9580628" cy="204340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13366154" y="10402442"/>
            <a:ext cx="9580628" cy="12843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83048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92151" y="2049875"/>
            <a:ext cx="5052158" cy="2953374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92151" y="2761879"/>
            <a:ext cx="5052158" cy="224137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9665921" y="2049875"/>
            <a:ext cx="5052158" cy="2953374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9665921" y="2761879"/>
            <a:ext cx="5052158" cy="224137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18661725" y="2049875"/>
            <a:ext cx="5052158" cy="2953374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18661725" y="2761879"/>
            <a:ext cx="5052158" cy="224137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5187035" y="8716305"/>
            <a:ext cx="5052158" cy="2953374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5187035" y="9428309"/>
            <a:ext cx="5052158" cy="224137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14160805" y="8716305"/>
            <a:ext cx="5052158" cy="2953374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14160805" y="9428309"/>
            <a:ext cx="5052158" cy="224137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768512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89952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715300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034055" y="7620351"/>
            <a:ext cx="6528226" cy="4750230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8929085" y="7620351"/>
            <a:ext cx="6528226" cy="4750230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6770963" y="7620351"/>
            <a:ext cx="6528226" cy="4750230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34055" y="6504673"/>
            <a:ext cx="6528226" cy="783566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929085" y="6504673"/>
            <a:ext cx="6528226" cy="783566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6770963" y="6504673"/>
            <a:ext cx="6528226" cy="783566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001945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8325881" y="2528957"/>
            <a:ext cx="7732242" cy="4872754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692150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692151" y="9312166"/>
            <a:ext cx="7253670" cy="308938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8481005" y="9312166"/>
            <a:ext cx="7253670" cy="308938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16460407" y="9312166"/>
            <a:ext cx="7253670" cy="308938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782224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706578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2421287" y="8648902"/>
            <a:ext cx="8243374" cy="322452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13715901" y="8648902"/>
            <a:ext cx="8243374" cy="322452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2421284" y="3155997"/>
            <a:ext cx="8243376" cy="4567950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13711080" y="3155997"/>
            <a:ext cx="8243376" cy="4567950"/>
          </a:xfrm>
        </p:spPr>
      </p:sp>
    </p:spTree>
    <p:extLst>
      <p:ext uri="{BB962C8B-B14F-4D97-AF65-F5344CB8AC3E}">
        <p14:creationId xmlns:p14="http://schemas.microsoft.com/office/powerpoint/2010/main" val="31501530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9745" y="2471831"/>
            <a:ext cx="4344510" cy="9205394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712699" y="3282567"/>
            <a:ext cx="7625862" cy="204340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712699" y="4041640"/>
            <a:ext cx="7625862" cy="25811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16080041" y="3282567"/>
            <a:ext cx="7625862" cy="204340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16080041" y="4041640"/>
            <a:ext cx="7625862" cy="25811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712699" y="7729197"/>
            <a:ext cx="7625862" cy="204340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712699" y="8488270"/>
            <a:ext cx="7625862" cy="25811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16080041" y="7729197"/>
            <a:ext cx="7625862" cy="204340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3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16080041" y="8488270"/>
            <a:ext cx="7625862" cy="25811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8489388" y="3740826"/>
            <a:ext cx="1373396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8489388" y="8189260"/>
            <a:ext cx="1373396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14501166" y="3740826"/>
            <a:ext cx="1373396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14501166" y="8189260"/>
            <a:ext cx="1373396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35566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2002918" y="2076448"/>
            <a:ext cx="3452428" cy="73152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7662194" y="2076448"/>
            <a:ext cx="3452428" cy="73152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13321468" y="2076448"/>
            <a:ext cx="3452428" cy="73152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18980736" y="2076448"/>
            <a:ext cx="3452428" cy="73152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92152" y="9858870"/>
            <a:ext cx="5478496" cy="254268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6539124" y="9858870"/>
            <a:ext cx="5478496" cy="254268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12386096" y="9858870"/>
            <a:ext cx="5478496" cy="254268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18233070" y="9858870"/>
            <a:ext cx="5478496" cy="254268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398973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376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numCol="2" spcCol="1098550">
            <a:normAutofit/>
          </a:bodyPr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заголовка</a:t>
            </a:r>
            <a:endParaRPr dirty="0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ransition spd="med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692150" y="842452"/>
            <a:ext cx="19725468" cy="7522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630785" y="2032355"/>
            <a:ext cx="23122458" cy="10321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12781" y="12712725"/>
            <a:ext cx="209532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2919142" y="12712725"/>
            <a:ext cx="191495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26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</p:sldLayoutIdLst>
  <p:hf hdr="0" ftr="0" dt="0"/>
  <p:txStyles>
    <p:titleStyle>
      <a:lvl1pPr algn="l" defTabSz="1157510" rtl="0">
        <a:lnSpc>
          <a:spcPct val="90000"/>
        </a:lnSpc>
        <a:spcBef>
          <a:spcPts val="0"/>
        </a:spcBef>
        <a:buNone/>
        <a:defRPr sz="4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289376" indent="-289376" algn="l" defTabSz="1157510" rtl="0">
        <a:lnSpc>
          <a:spcPct val="90000"/>
        </a:lnSpc>
        <a:spcBef>
          <a:spcPts val="1262"/>
        </a:spcBef>
        <a:buFont typeface="Arial"/>
        <a:buChar char="•"/>
        <a:defRPr sz="2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868134" indent="-289376" algn="l" defTabSz="1157510" rtl="0">
        <a:lnSpc>
          <a:spcPct val="90000"/>
        </a:lnSpc>
        <a:spcBef>
          <a:spcPts val="634"/>
        </a:spcBef>
        <a:buFont typeface="Arial"/>
        <a:buChar char="•"/>
        <a:defRPr sz="25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446890" indent="-289376" algn="l" defTabSz="1157510" rtl="0">
        <a:lnSpc>
          <a:spcPct val="90000"/>
        </a:lnSpc>
        <a:spcBef>
          <a:spcPts val="634"/>
        </a:spcBef>
        <a:buFont typeface="Arial"/>
        <a:buChar char="•"/>
        <a:defRPr sz="2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2025644" indent="-289376" algn="l" defTabSz="1157510" rtl="0">
        <a:lnSpc>
          <a:spcPct val="90000"/>
        </a:lnSpc>
        <a:spcBef>
          <a:spcPts val="634"/>
        </a:spcBef>
        <a:buFont typeface="Arial"/>
        <a:buChar char="•"/>
        <a:defRPr sz="18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604400" indent="-289376" algn="l" defTabSz="1157510" rtl="0">
        <a:lnSpc>
          <a:spcPct val="90000"/>
        </a:lnSpc>
        <a:spcBef>
          <a:spcPts val="634"/>
        </a:spcBef>
        <a:buFont typeface="Arial"/>
        <a:buChar char="•"/>
        <a:defRPr sz="18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3183150" indent="-289376" algn="l" defTabSz="1157510" rtl="0">
        <a:lnSpc>
          <a:spcPct val="90000"/>
        </a:lnSpc>
        <a:spcBef>
          <a:spcPts val="634"/>
        </a:spcBef>
        <a:buFont typeface="Arial"/>
        <a:buChar char="•"/>
        <a:defRPr sz="2300">
          <a:solidFill>
            <a:schemeClr val="tx1"/>
          </a:solidFill>
          <a:latin typeface="+mn-lt"/>
          <a:ea typeface="+mn-ea"/>
          <a:cs typeface="+mn-cs"/>
        </a:defRPr>
      </a:lvl6pPr>
      <a:lvl7pPr marL="3761910" indent="-289376" algn="l" defTabSz="1157510" rtl="0">
        <a:lnSpc>
          <a:spcPct val="90000"/>
        </a:lnSpc>
        <a:spcBef>
          <a:spcPts val="634"/>
        </a:spcBef>
        <a:buFont typeface="Arial"/>
        <a:buChar char="•"/>
        <a:defRPr sz="2300">
          <a:solidFill>
            <a:schemeClr val="tx1"/>
          </a:solidFill>
          <a:latin typeface="+mn-lt"/>
          <a:ea typeface="+mn-ea"/>
          <a:cs typeface="+mn-cs"/>
        </a:defRPr>
      </a:lvl7pPr>
      <a:lvl8pPr marL="4340668" indent="-289376" algn="l" defTabSz="1157510" rtl="0">
        <a:lnSpc>
          <a:spcPct val="90000"/>
        </a:lnSpc>
        <a:spcBef>
          <a:spcPts val="634"/>
        </a:spcBef>
        <a:buFont typeface="Arial"/>
        <a:buChar char="•"/>
        <a:defRPr sz="2300">
          <a:solidFill>
            <a:schemeClr val="tx1"/>
          </a:solidFill>
          <a:latin typeface="+mn-lt"/>
          <a:ea typeface="+mn-ea"/>
          <a:cs typeface="+mn-cs"/>
        </a:defRPr>
      </a:lvl8pPr>
      <a:lvl9pPr marL="4919424" indent="-289376" algn="l" defTabSz="1157510" rtl="0">
        <a:lnSpc>
          <a:spcPct val="90000"/>
        </a:lnSpc>
        <a:spcBef>
          <a:spcPts val="634"/>
        </a:spcBef>
        <a:buFont typeface="Arial"/>
        <a:buChar char="•"/>
        <a:defRPr sz="23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157510" rtl="0">
        <a:defRPr sz="2300">
          <a:solidFill>
            <a:schemeClr val="tx1"/>
          </a:solidFill>
          <a:latin typeface="+mn-lt"/>
          <a:ea typeface="+mn-ea"/>
          <a:cs typeface="+mn-cs"/>
        </a:defRPr>
      </a:lvl1pPr>
      <a:lvl2pPr marL="578756" algn="l" defTabSz="1157510" rtl="0">
        <a:defRPr sz="2300">
          <a:solidFill>
            <a:schemeClr val="tx1"/>
          </a:solidFill>
          <a:latin typeface="+mn-lt"/>
          <a:ea typeface="+mn-ea"/>
          <a:cs typeface="+mn-cs"/>
        </a:defRPr>
      </a:lvl2pPr>
      <a:lvl3pPr marL="1157510" algn="l" defTabSz="1157510" rtl="0">
        <a:defRPr sz="2300">
          <a:solidFill>
            <a:schemeClr val="tx1"/>
          </a:solidFill>
          <a:latin typeface="+mn-lt"/>
          <a:ea typeface="+mn-ea"/>
          <a:cs typeface="+mn-cs"/>
        </a:defRPr>
      </a:lvl3pPr>
      <a:lvl4pPr marL="1736264" algn="l" defTabSz="1157510" rtl="0">
        <a:defRPr sz="2300">
          <a:solidFill>
            <a:schemeClr val="tx1"/>
          </a:solidFill>
          <a:latin typeface="+mn-lt"/>
          <a:ea typeface="+mn-ea"/>
          <a:cs typeface="+mn-cs"/>
        </a:defRPr>
      </a:lvl4pPr>
      <a:lvl5pPr marL="2315020" algn="l" defTabSz="1157510" rtl="0">
        <a:defRPr sz="2300">
          <a:solidFill>
            <a:schemeClr val="tx1"/>
          </a:solidFill>
          <a:latin typeface="+mn-lt"/>
          <a:ea typeface="+mn-ea"/>
          <a:cs typeface="+mn-cs"/>
        </a:defRPr>
      </a:lvl5pPr>
      <a:lvl6pPr marL="2893774" algn="l" defTabSz="1157510" rtl="0">
        <a:defRPr sz="2300">
          <a:solidFill>
            <a:schemeClr val="tx1"/>
          </a:solidFill>
          <a:latin typeface="+mn-lt"/>
          <a:ea typeface="+mn-ea"/>
          <a:cs typeface="+mn-cs"/>
        </a:defRPr>
      </a:lvl6pPr>
      <a:lvl7pPr marL="3472532" algn="l" defTabSz="1157510" rtl="0">
        <a:defRPr sz="2300">
          <a:solidFill>
            <a:schemeClr val="tx1"/>
          </a:solidFill>
          <a:latin typeface="+mn-lt"/>
          <a:ea typeface="+mn-ea"/>
          <a:cs typeface="+mn-cs"/>
        </a:defRPr>
      </a:lvl7pPr>
      <a:lvl8pPr marL="4051288" algn="l" defTabSz="1157510" rtl="0">
        <a:defRPr sz="2300">
          <a:solidFill>
            <a:schemeClr val="tx1"/>
          </a:solidFill>
          <a:latin typeface="+mn-lt"/>
          <a:ea typeface="+mn-ea"/>
          <a:cs typeface="+mn-cs"/>
        </a:defRPr>
      </a:lvl8pPr>
      <a:lvl9pPr marL="4630042" algn="l" defTabSz="1157510" rtl="0">
        <a:defRPr sz="23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svg"/><Relationship Id="rId7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04F3C4-77AC-E9D7-04D2-6375E7915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821473">
            <a:off x="12543550" y="1828799"/>
            <a:ext cx="17038481" cy="16529538"/>
          </a:xfrm>
          <a:prstGeom prst="rect">
            <a:avLst/>
          </a:prstGeom>
        </p:spPr>
      </p:pic>
      <p:sp>
        <p:nvSpPr>
          <p:cNvPr id="197" name="заголовок слайда"/>
          <p:cNvSpPr txBox="1"/>
          <p:nvPr/>
        </p:nvSpPr>
        <p:spPr>
          <a:xfrm>
            <a:off x="2414851" y="694709"/>
            <a:ext cx="16560953" cy="92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ЛЦТ 2026 · Задача №3</a:t>
            </a:r>
          </a:p>
        </p:txBody>
      </p:sp>
      <p:sp>
        <p:nvSpPr>
          <p:cNvPr id="198" name="lorem ipsum…"/>
          <p:cNvSpPr txBox="1"/>
          <p:nvPr/>
        </p:nvSpPr>
        <p:spPr>
          <a:xfrm>
            <a:off x="1658030" y="1371600"/>
            <a:ext cx="13716000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ct val="90000"/>
              </a:lnSpc>
              <a:defRPr sz="10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pPr>
            <a:r>
              <a:rPr lang="ru-RU" sz="7200" dirty="0"/>
              <a:t>Интеллектуальная</a:t>
            </a:r>
          </a:p>
          <a:p>
            <a:pPr algn="l">
              <a:lnSpc>
                <a:spcPct val="90000"/>
              </a:lnSpc>
              <a:defRPr sz="10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pPr>
            <a:r>
              <a:rPr lang="ru-RU" sz="7200" dirty="0"/>
              <a:t>маршрутизация</a:t>
            </a:r>
          </a:p>
          <a:p>
            <a:pPr algn="l">
              <a:lnSpc>
                <a:spcPct val="90000"/>
              </a:lnSpc>
              <a:defRPr sz="10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pPr>
            <a:r>
              <a:rPr lang="ru-RU" sz="7200" dirty="0"/>
              <a:t>выездных инженеров</a:t>
            </a:r>
          </a:p>
        </p:txBody>
      </p:sp>
      <p:pic>
        <p:nvPicPr>
          <p:cNvPr id="201" name="Изображение" descr="Изображение"/>
          <p:cNvPicPr>
            <a:picLocks noChangeAspect="1"/>
          </p:cNvPicPr>
          <p:nvPr/>
        </p:nvPicPr>
        <p:blipFill>
          <a:blip r:embed="rId3"/>
          <a:srcRect l="24738" b="75835"/>
          <a:stretch>
            <a:fillRect/>
          </a:stretch>
        </p:blipFill>
        <p:spPr>
          <a:xfrm>
            <a:off x="-435707" y="8684955"/>
            <a:ext cx="24808447" cy="6904409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849B6A-431D-BD53-8096-F873C27C91E9}"/>
              </a:ext>
            </a:extLst>
          </p:cNvPr>
          <p:cNvSpPr txBox="1"/>
          <p:nvPr/>
        </p:nvSpPr>
        <p:spPr>
          <a:xfrm>
            <a:off x="2194573" y="5577840"/>
            <a:ext cx="10515600" cy="11798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200" dirty="0">
                <a:solidFill>
                  <a:schemeClr val="bg1"/>
                </a:solidFill>
                <a:latin typeface="Beeline Sans" panose="020B0500040202020204" pitchFamily="34" charset="0"/>
              </a:rPr>
              <a:t>билайн бизнес · Команда 67 индусов под капотом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AC32825-3835-29D4-D33F-FE693A75C9DB}"/>
              </a:ext>
            </a:extLst>
          </p:cNvPr>
          <p:cNvSpPr/>
          <p:nvPr/>
        </p:nvSpPr>
        <p:spPr>
          <a:xfrm>
            <a:off x="1658030" y="5486400"/>
            <a:ext cx="117530" cy="1371600"/>
          </a:xfrm>
          <a:prstGeom prst="rect">
            <a:avLst/>
          </a:prstGeom>
          <a:solidFill>
            <a:srgbClr val="F6CB4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832C9-D45E-61A1-9433-0F52E218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7CBC13D0-38BB-8B3D-2693-4383FDAD1068}"/>
              </a:ext>
            </a:extLst>
          </p:cNvPr>
          <p:cNvSpPr txBox="1"/>
          <p:nvPr/>
        </p:nvSpPr>
        <p:spPr>
          <a:xfrm>
            <a:off x="607742" y="1908370"/>
            <a:ext cx="16673285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10000" dirty="0"/>
              <a:t>Команда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621791-DC6C-DB7F-E3BE-EB1C088C5E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40522D-2FC5-E22B-47C1-8B2C03F918F5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ru-RU" sz="1200" dirty="0"/>
              <a:t>билайн бизнес · ЛЦТ 2026 · Задача №3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1B77996B-5044-8340-E91D-1B7D28C8351A}"/>
              </a:ext>
            </a:extLst>
          </p:cNvPr>
          <p:cNvSpPr txBox="1"/>
          <p:nvPr/>
        </p:nvSpPr>
        <p:spPr>
          <a:xfrm>
            <a:off x="11955780" y="8431938"/>
            <a:ext cx="14630400" cy="45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4480" dirty="0">
                <a:latin typeface="Beeline Sans" panose="020B0500040202020204" pitchFamily="34" charset="0"/>
              </a:rPr>
              <a:t>Математическая модель · @</a:t>
            </a:r>
            <a:r>
              <a:rPr lang="en-US" sz="4480" dirty="0" err="1">
                <a:latin typeface="Beeline Sans" panose="020B0500040202020204" pitchFamily="34" charset="0"/>
              </a:rPr>
              <a:t>beelinedev</a:t>
            </a:r>
            <a:r>
              <a:rPr lang="ru-RU" sz="4480" dirty="0">
                <a:latin typeface="Beeline Sans" panose="020B0500040202020204" pitchFamily="34" charset="0"/>
              </a:rPr>
              <a:t> · +7 228 322 6769 · НГУ ММФ</a:t>
            </a: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EF501672-2696-A800-DFA9-51C36815A927}"/>
              </a:ext>
            </a:extLst>
          </p:cNvPr>
          <p:cNvSpPr txBox="1"/>
          <p:nvPr/>
        </p:nvSpPr>
        <p:spPr>
          <a:xfrm>
            <a:off x="11955780" y="11775294"/>
            <a:ext cx="14630400" cy="45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4480" dirty="0" err="1">
                <a:latin typeface="Beeline Sans" panose="020B0500040202020204" pitchFamily="34" charset="0"/>
              </a:rPr>
              <a:t>Frontend</a:t>
            </a:r>
            <a:r>
              <a:rPr lang="ru-RU" sz="4480" dirty="0">
                <a:latin typeface="Beeline Sans" panose="020B0500040202020204" pitchFamily="34" charset="0"/>
              </a:rPr>
              <a:t> &amp; Дашборд · @MRubanov · +7 988 416 7690 · НГУ ММФ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D900CDE-E5B7-8EED-C5AF-B761785D44F1}"/>
              </a:ext>
            </a:extLst>
          </p:cNvPr>
          <p:cNvCxnSpPr>
            <a:cxnSpLocks/>
          </p:cNvCxnSpPr>
          <p:nvPr/>
        </p:nvCxnSpPr>
        <p:spPr>
          <a:xfrm flipH="1">
            <a:off x="0" y="7176592"/>
            <a:ext cx="24384000" cy="0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TextBox 6">
            <a:extLst>
              <a:ext uri="{FF2B5EF4-FFF2-40B4-BE49-F238E27FC236}">
                <a16:creationId xmlns:a16="http://schemas.microsoft.com/office/drawing/2014/main" id="{66914BC2-8708-88BC-7170-752968F229B8}"/>
              </a:ext>
            </a:extLst>
          </p:cNvPr>
          <p:cNvSpPr txBox="1"/>
          <p:nvPr/>
        </p:nvSpPr>
        <p:spPr>
          <a:xfrm>
            <a:off x="11955780" y="5248602"/>
            <a:ext cx="14630400" cy="123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4480" dirty="0">
                <a:latin typeface="Beeline Sans" panose="020B0500040202020204" pitchFamily="34" charset="0"/>
              </a:rPr>
              <a:t>Капитан · Backend &amp; VRP · @E2hA1ex · +7 913 710 5307 · НГУ ММФ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AC48496-08F4-2537-A934-6D293A8AECB6}"/>
              </a:ext>
            </a:extLst>
          </p:cNvPr>
          <p:cNvCxnSpPr>
            <a:cxnSpLocks/>
          </p:cNvCxnSpPr>
          <p:nvPr/>
        </p:nvCxnSpPr>
        <p:spPr>
          <a:xfrm flipH="1">
            <a:off x="22523218" y="10376992"/>
            <a:ext cx="1860782" cy="0"/>
          </a:xfrm>
          <a:prstGeom prst="line">
            <a:avLst/>
          </a:prstGeom>
          <a:noFill/>
          <a:ln w="25400" cap="flat">
            <a:solidFill>
              <a:schemeClr val="bg1">
                <a:lumMod val="95000"/>
              </a:schemeClr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EFCCD5D3-0428-1AAD-F641-64DF924D9ACE}"/>
              </a:ext>
            </a:extLst>
          </p:cNvPr>
          <p:cNvSpPr txBox="1"/>
          <p:nvPr/>
        </p:nvSpPr>
        <p:spPr>
          <a:xfrm>
            <a:off x="5614083" y="5157162"/>
            <a:ext cx="5303520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480" dirty="0"/>
              <a:t>Пронькин Алексей</a:t>
            </a:r>
          </a:p>
        </p:txBody>
      </p:sp>
      <p:sp>
        <p:nvSpPr>
          <p:cNvPr id="29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55292F9B-2D30-37B5-2A72-297597A704BB}"/>
              </a:ext>
            </a:extLst>
          </p:cNvPr>
          <p:cNvSpPr txBox="1"/>
          <p:nvPr/>
        </p:nvSpPr>
        <p:spPr>
          <a:xfrm>
            <a:off x="5614083" y="8340498"/>
            <a:ext cx="5303520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480" dirty="0"/>
              <a:t>Алешков Данил</a:t>
            </a:r>
          </a:p>
        </p:txBody>
      </p:sp>
      <p:sp>
        <p:nvSpPr>
          <p:cNvPr id="31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A01700FE-B421-1E98-8197-19030ADF2245}"/>
              </a:ext>
            </a:extLst>
          </p:cNvPr>
          <p:cNvSpPr txBox="1"/>
          <p:nvPr/>
        </p:nvSpPr>
        <p:spPr>
          <a:xfrm>
            <a:off x="5614083" y="11615274"/>
            <a:ext cx="5303520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480" dirty="0"/>
              <a:t>Рубанов Михаил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0154C877-FE37-FA5A-C270-54E3D28E6387}"/>
              </a:ext>
            </a:extLst>
          </p:cNvPr>
          <p:cNvCxnSpPr>
            <a:cxnSpLocks/>
          </p:cNvCxnSpPr>
          <p:nvPr/>
        </p:nvCxnSpPr>
        <p:spPr>
          <a:xfrm flipH="1">
            <a:off x="0" y="10361752"/>
            <a:ext cx="24384000" cy="0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EEA135-561C-5348-996D-6A86F85AF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96" y="4036441"/>
            <a:ext cx="2990652" cy="299919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4939A1-1451-F635-C86B-06356C4560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956" t="-1011" r="10044" b="1011"/>
          <a:stretch>
            <a:fillRect/>
          </a:stretch>
        </p:blipFill>
        <p:spPr>
          <a:xfrm>
            <a:off x="1164427" y="10453712"/>
            <a:ext cx="2990654" cy="2990656"/>
          </a:xfrm>
          <a:prstGeom prst="ellipse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C40FF17-A250-96FB-9E1C-EE9B6BD222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500" b="12500"/>
          <a:stretch>
            <a:fillRect/>
          </a:stretch>
        </p:blipFill>
        <p:spPr>
          <a:xfrm>
            <a:off x="1152963" y="7309880"/>
            <a:ext cx="2953610" cy="295361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6129517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2E10-F80A-37A1-F1CF-FD75D739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Прямоугольник 1">
            <a:extLst>
              <a:ext uri="{FF2B5EF4-FFF2-40B4-BE49-F238E27FC236}">
                <a16:creationId xmlns:a16="http://schemas.microsoft.com/office/drawing/2014/main" id="{D0AC89D8-A02D-176A-C071-559EC71D0C0B}"/>
              </a:ext>
            </a:extLst>
          </p:cNvPr>
          <p:cNvSpPr txBox="1"/>
          <p:nvPr/>
        </p:nvSpPr>
        <p:spPr>
          <a:xfrm>
            <a:off x="607742" y="677072"/>
            <a:ext cx="19749286" cy="369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 anchor="b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ru-RU" dirty="0"/>
              <a:t>билайн бизнес · ЛЦТ 2026 · Задача №3</a:t>
            </a:r>
          </a:p>
        </p:txBody>
      </p:sp>
      <p:sp>
        <p:nvSpPr>
          <p:cNvPr id="2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5EDB76ED-8FA9-BBC5-C15A-8A634F5A90F6}"/>
              </a:ext>
            </a:extLst>
          </p:cNvPr>
          <p:cNvSpPr txBox="1"/>
          <p:nvPr/>
        </p:nvSpPr>
        <p:spPr>
          <a:xfrm>
            <a:off x="607742" y="2241330"/>
            <a:ext cx="16673285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11000" dirty="0"/>
              <a:t>67 индусов</a:t>
            </a:r>
          </a:p>
          <a:p>
            <a:r>
              <a:rPr lang="ru-RU" sz="11000" dirty="0"/>
              <a:t>под капотом</a:t>
            </a: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06C63FFD-1535-3D5A-8AC2-E15F553E2D6A}"/>
              </a:ext>
            </a:extLst>
          </p:cNvPr>
          <p:cNvSpPr txBox="1"/>
          <p:nvPr/>
        </p:nvSpPr>
        <p:spPr>
          <a:xfrm>
            <a:off x="607742" y="6035040"/>
            <a:ext cx="11521440" cy="3875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5040" b="1" dirty="0">
                <a:latin typeface="Beeline Sans" panose="020B0500040202020204" pitchFamily="34" charset="0"/>
              </a:rPr>
              <a:t>Команда: </a:t>
            </a:r>
            <a:r>
              <a:rPr lang="ru-RU" sz="5040" dirty="0">
                <a:latin typeface="Beeline Sans" panose="020B0500040202020204" pitchFamily="34" charset="0"/>
              </a:rPr>
              <a:t>3 студента 3 курса ММФ НГУ, Новосибирск. Собрались на курсе «Проектная деятельность».</a:t>
            </a:r>
          </a:p>
          <a:p>
            <a:pPr algn="l"/>
            <a:r>
              <a:rPr lang="ru-RU" sz="5040" b="1" dirty="0">
                <a:latin typeface="Beeline Sans" panose="020B0500040202020204" pitchFamily="34" charset="0"/>
              </a:rPr>
              <a:t>Почему эта задача: </a:t>
            </a:r>
            <a:r>
              <a:rPr lang="ru-RU" sz="5040" dirty="0">
                <a:latin typeface="Beeline Sans" panose="020B0500040202020204" pitchFamily="34" charset="0"/>
              </a:rPr>
              <a:t>участники команды уже занимались задачами оптимизации и составления расписаний в частности.</a:t>
            </a:r>
          </a:p>
          <a:p>
            <a:pPr algn="l"/>
            <a:r>
              <a:rPr lang="ru-RU" sz="5040" b="1" dirty="0">
                <a:latin typeface="Beeline Sans" panose="020B0500040202020204" pitchFamily="34" charset="0"/>
              </a:rPr>
              <a:t>Сложности: </a:t>
            </a:r>
            <a:r>
              <a:rPr lang="ru-RU" sz="5040" dirty="0">
                <a:latin typeface="Beeline Sans" panose="020B0500040202020204" pitchFamily="34" charset="0"/>
              </a:rPr>
              <a:t>учёт реальной дорожной сети OSM (пешие, вело, авто); моделирование динамического трафика Москвы; строгая формализация VRP-TW-S-C-M.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46BC29-B310-4F0C-38ED-CA3C4AAB3D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25" r="16764"/>
          <a:stretch>
            <a:fillRect/>
          </a:stretch>
        </p:blipFill>
        <p:spPr>
          <a:xfrm>
            <a:off x="13347693" y="0"/>
            <a:ext cx="11036302" cy="1371600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01A1BB-95A1-57E9-3054-4536AA3BA0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8657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1D35BE-8BBB-209B-8C43-37BA44A7E9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217"/>
            <a:ext cx="24384000" cy="13728715"/>
          </a:xfrm>
          <a:prstGeom prst="rect">
            <a:avLst/>
          </a:prstGeom>
        </p:spPr>
      </p:pic>
      <p:sp>
        <p:nvSpPr>
          <p:cNvPr id="3" name="Прямоугольник 1">
            <a:extLst>
              <a:ext uri="{FF2B5EF4-FFF2-40B4-BE49-F238E27FC236}">
                <a16:creationId xmlns:a16="http://schemas.microsoft.com/office/drawing/2014/main" id="{6F3A1D2B-9D48-8F07-2F42-8FEC0194462E}"/>
              </a:ext>
            </a:extLst>
          </p:cNvPr>
          <p:cNvSpPr txBox="1"/>
          <p:nvPr/>
        </p:nvSpPr>
        <p:spPr>
          <a:xfrm>
            <a:off x="433492" y="647012"/>
            <a:ext cx="3246968" cy="9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91437" tIns="91437" rIns="91437" bIns="91437" anchor="b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ru-RU" sz="4800" b="1" dirty="0">
                <a:solidFill>
                  <a:schemeClr val="bg1"/>
                </a:solidFill>
                <a:latin typeface="Beeline Sans" panose="020B0500040202020204" pitchFamily="34" charset="0"/>
              </a:rPr>
              <a:t>Проблема</a:t>
            </a:r>
          </a:p>
        </p:txBody>
      </p:sp>
      <p:sp>
        <p:nvSpPr>
          <p:cNvPr id="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2402DC88-49E0-7D65-D246-2A292425C2E5}"/>
              </a:ext>
            </a:extLst>
          </p:cNvPr>
          <p:cNvSpPr txBox="1"/>
          <p:nvPr/>
        </p:nvSpPr>
        <p:spPr>
          <a:xfrm>
            <a:off x="607743" y="3186928"/>
            <a:ext cx="5285058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759" dirty="0">
                <a:solidFill>
                  <a:schemeClr val="bg1"/>
                </a:solidFill>
              </a:rPr>
              <a:t>Пробки и граф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01E040-363F-D19E-8EDE-425038D0C3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B43B8793-CD86-8E62-9EFD-8E8062C4825C}"/>
              </a:ext>
            </a:extLst>
          </p:cNvPr>
          <p:cNvSpPr txBox="1"/>
          <p:nvPr/>
        </p:nvSpPr>
        <p:spPr>
          <a:xfrm>
            <a:off x="607743" y="6858000"/>
            <a:ext cx="3870845" cy="410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4200" dirty="0">
                <a:solidFill>
                  <a:schemeClr val="bg1"/>
                </a:solidFill>
                <a:latin typeface="Beeline Sans" panose="020B0500040202020204" pitchFamily="34" charset="0"/>
              </a:rPr>
              <a:t>Человек не может просчитать оптимальный путь по дорожному графу и часовым пробкам для 200+ адресов.</a:t>
            </a:r>
          </a:p>
        </p:txBody>
      </p:sp>
      <p:sp>
        <p:nvSpPr>
          <p:cNvPr id="8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4B6F6149-1DCC-276E-B20C-F69298D1D272}"/>
              </a:ext>
            </a:extLst>
          </p:cNvPr>
          <p:cNvSpPr txBox="1"/>
          <p:nvPr/>
        </p:nvSpPr>
        <p:spPr>
          <a:xfrm>
            <a:off x="607743" y="5423584"/>
            <a:ext cx="5285058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9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637A22F2-651F-2423-935F-29D596460E50}"/>
              </a:ext>
            </a:extLst>
          </p:cNvPr>
          <p:cNvSpPr txBox="1"/>
          <p:nvPr/>
        </p:nvSpPr>
        <p:spPr>
          <a:xfrm>
            <a:off x="7008543" y="3186928"/>
            <a:ext cx="5285058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759" dirty="0">
                <a:solidFill>
                  <a:schemeClr val="tx2"/>
                </a:solidFill>
              </a:rPr>
              <a:t>Жесткие окна SLA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A7585EF-3DCD-DB49-8C9E-899D15EE6340}"/>
              </a:ext>
            </a:extLst>
          </p:cNvPr>
          <p:cNvSpPr txBox="1"/>
          <p:nvPr/>
        </p:nvSpPr>
        <p:spPr>
          <a:xfrm>
            <a:off x="7008543" y="6858000"/>
            <a:ext cx="3870845" cy="410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4200" dirty="0">
                <a:solidFill>
                  <a:schemeClr val="tx2"/>
                </a:solidFill>
                <a:latin typeface="Beeline Sans" panose="020B0500040202020204" pitchFamily="34" charset="0"/>
              </a:rPr>
              <a:t>Опоздание на 15 минут срывает 2-часовой слот клиента и ведёт к прямому уходу абонента к конкурентам.</a:t>
            </a:r>
          </a:p>
        </p:txBody>
      </p:sp>
      <p:sp>
        <p:nvSpPr>
          <p:cNvPr id="11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B466D5A8-3D83-DFB6-F2C5-FBC619457B4D}"/>
              </a:ext>
            </a:extLst>
          </p:cNvPr>
          <p:cNvSpPr txBox="1"/>
          <p:nvPr/>
        </p:nvSpPr>
        <p:spPr>
          <a:xfrm>
            <a:off x="7008543" y="5423584"/>
            <a:ext cx="5285058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12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7ED0B50A-CF4E-CC08-C51C-8125F4BE311F}"/>
              </a:ext>
            </a:extLst>
          </p:cNvPr>
          <p:cNvSpPr txBox="1"/>
          <p:nvPr/>
        </p:nvSpPr>
        <p:spPr>
          <a:xfrm>
            <a:off x="13282343" y="3186928"/>
            <a:ext cx="5285058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759" dirty="0">
                <a:solidFill>
                  <a:schemeClr val="bg1"/>
                </a:solidFill>
              </a:rPr>
              <a:t>Внезапные ЧП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17A63394-A14A-470D-49D3-019F41C7C1A8}"/>
              </a:ext>
            </a:extLst>
          </p:cNvPr>
          <p:cNvSpPr txBox="1"/>
          <p:nvPr/>
        </p:nvSpPr>
        <p:spPr>
          <a:xfrm>
            <a:off x="13282343" y="6858000"/>
            <a:ext cx="3870845" cy="410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4200" dirty="0">
                <a:solidFill>
                  <a:schemeClr val="bg1"/>
                </a:solidFill>
                <a:latin typeface="Beeline Sans" panose="020B0500040202020204" pitchFamily="34" charset="0"/>
              </a:rPr>
              <a:t>При обрыве кабеля или поломке машины диспетчер тратит часы на звонки и теряет управляемость сменой.</a:t>
            </a:r>
          </a:p>
        </p:txBody>
      </p:sp>
      <p:sp>
        <p:nvSpPr>
          <p:cNvPr id="1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5047F3C3-18B7-9049-389B-908DE639E746}"/>
              </a:ext>
            </a:extLst>
          </p:cNvPr>
          <p:cNvSpPr txBox="1"/>
          <p:nvPr/>
        </p:nvSpPr>
        <p:spPr>
          <a:xfrm>
            <a:off x="13282343" y="5423584"/>
            <a:ext cx="5285058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5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42156232-63AC-CEC3-33A4-E6B21A9A4519}"/>
              </a:ext>
            </a:extLst>
          </p:cNvPr>
          <p:cNvSpPr txBox="1"/>
          <p:nvPr/>
        </p:nvSpPr>
        <p:spPr>
          <a:xfrm>
            <a:off x="19556143" y="3186928"/>
            <a:ext cx="5285058" cy="761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759" dirty="0">
                <a:solidFill>
                  <a:schemeClr val="tx2"/>
                </a:solidFill>
              </a:rPr>
              <a:t>Раздутый штат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5B05020A-75A2-961D-5E1E-9CE5A2099C3E}"/>
              </a:ext>
            </a:extLst>
          </p:cNvPr>
          <p:cNvSpPr txBox="1"/>
          <p:nvPr/>
        </p:nvSpPr>
        <p:spPr>
          <a:xfrm>
            <a:off x="19556143" y="6858000"/>
            <a:ext cx="3870845" cy="410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4200" dirty="0">
                <a:solidFill>
                  <a:schemeClr val="tx2"/>
                </a:solidFill>
                <a:latin typeface="Beeline Sans" panose="020B0500040202020204" pitchFamily="34" charset="0"/>
              </a:rPr>
              <a:t>Неоптимальные маршруты ведут к перерасходу километража, лишним бригадам и избыточным тратам на ГСМ.</a:t>
            </a:r>
          </a:p>
        </p:txBody>
      </p:sp>
      <p:sp>
        <p:nvSpPr>
          <p:cNvPr id="17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A3ACEAB7-7A2A-B0E5-9CD8-A039B720B4EF}"/>
              </a:ext>
            </a:extLst>
          </p:cNvPr>
          <p:cNvSpPr txBox="1"/>
          <p:nvPr/>
        </p:nvSpPr>
        <p:spPr>
          <a:xfrm>
            <a:off x="19556143" y="5423584"/>
            <a:ext cx="5285058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>
                <a:solidFill>
                  <a:schemeClr val="tx2"/>
                </a:solidFill>
              </a:rPr>
              <a:t>04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78B5051D-513D-06EE-9D93-6255D628D73F}"/>
              </a:ext>
            </a:extLst>
          </p:cNvPr>
          <p:cNvCxnSpPr/>
          <p:nvPr/>
        </p:nvCxnSpPr>
        <p:spPr>
          <a:xfrm>
            <a:off x="607742" y="6659572"/>
            <a:ext cx="480245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AB5912EF-5205-6F4E-484C-F3251575156D}"/>
              </a:ext>
            </a:extLst>
          </p:cNvPr>
          <p:cNvCxnSpPr/>
          <p:nvPr/>
        </p:nvCxnSpPr>
        <p:spPr>
          <a:xfrm>
            <a:off x="13231542" y="6659572"/>
            <a:ext cx="480245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C37F54A9-EDE1-A1AF-917E-5B9883B0DD00}"/>
              </a:ext>
            </a:extLst>
          </p:cNvPr>
          <p:cNvCxnSpPr>
            <a:cxnSpLocks/>
          </p:cNvCxnSpPr>
          <p:nvPr/>
        </p:nvCxnSpPr>
        <p:spPr>
          <a:xfrm>
            <a:off x="19530742" y="6659572"/>
            <a:ext cx="4269058" cy="0"/>
          </a:xfrm>
          <a:prstGeom prst="line">
            <a:avLst/>
          </a:prstGeom>
          <a:noFill/>
          <a:ln w="25400" cap="flat">
            <a:solidFill>
              <a:schemeClr val="tx2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8599427-AB5D-B00F-DC4F-B0C11E5A812E}"/>
              </a:ext>
            </a:extLst>
          </p:cNvPr>
          <p:cNvCxnSpPr/>
          <p:nvPr/>
        </p:nvCxnSpPr>
        <p:spPr>
          <a:xfrm>
            <a:off x="6983142" y="6659572"/>
            <a:ext cx="4802458" cy="0"/>
          </a:xfrm>
          <a:prstGeom prst="line">
            <a:avLst/>
          </a:prstGeom>
          <a:noFill/>
          <a:ln w="25400" cap="flat">
            <a:solidFill>
              <a:schemeClr val="tx2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CD2C0A69-6F7B-C759-5017-6AF8CA2CE91A}"/>
              </a:ext>
            </a:extLst>
          </p:cNvPr>
          <p:cNvSpPr txBox="1"/>
          <p:nvPr/>
        </p:nvSpPr>
        <p:spPr>
          <a:xfrm>
            <a:off x="607742" y="2256816"/>
            <a:ext cx="16673285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10000" dirty="0"/>
              <a:t>Стек решения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2F7FA1-A8FA-425D-73A7-D919AFC633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BB7FFC-2990-FD57-D51E-A95C5B0A5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663865" flipH="1">
            <a:off x="11620374" y="4834719"/>
            <a:ext cx="12997634" cy="7220907"/>
          </a:xfrm>
          <a:prstGeom prst="rect">
            <a:avLst/>
          </a:prstGeom>
        </p:spPr>
      </p:pic>
      <p:sp>
        <p:nvSpPr>
          <p:cNvPr id="11" name="Прямоугольник 1">
            <a:extLst>
              <a:ext uri="{FF2B5EF4-FFF2-40B4-BE49-F238E27FC236}">
                <a16:creationId xmlns:a16="http://schemas.microsoft.com/office/drawing/2014/main" id="{1F49B42C-978C-9AD4-365B-366CA70510F0}"/>
              </a:ext>
            </a:extLst>
          </p:cNvPr>
          <p:cNvSpPr txBox="1"/>
          <p:nvPr/>
        </p:nvSpPr>
        <p:spPr>
          <a:xfrm>
            <a:off x="607742" y="677072"/>
            <a:ext cx="19749286" cy="369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 anchor="b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ru-RU" dirty="0"/>
              <a:t>билайн бизнес · ЛЦТ 2026 · Задача №3</a:t>
            </a:r>
          </a:p>
        </p:txBody>
      </p:sp>
      <p:pic>
        <p:nvPicPr>
          <p:cNvPr id="12" name="Рисунок 11" descr="Python (programming language) - Wikipedia">
            <a:extLst>
              <a:ext uri="{FF2B5EF4-FFF2-40B4-BE49-F238E27FC236}">
                <a16:creationId xmlns:a16="http://schemas.microsoft.com/office/drawing/2014/main" id="{9D7DD66C-8547-DF77-F5EA-FEDE95A95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169" y="4325814"/>
            <a:ext cx="2532186" cy="25321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F39AAB-AB7C-DA0F-9C11-E76C2C49C191}"/>
              </a:ext>
            </a:extLst>
          </p:cNvPr>
          <p:cNvSpPr txBox="1"/>
          <p:nvPr/>
        </p:nvSpPr>
        <p:spPr>
          <a:xfrm>
            <a:off x="738554" y="7237499"/>
            <a:ext cx="33410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 Neue"/>
              </a:rPr>
              <a:t>Python 3.14</a:t>
            </a: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  <p:pic>
        <p:nvPicPr>
          <p:cNvPr id="14" name="Рисунок 13" descr="OR-Tools - Wikipedia">
            <a:extLst>
              <a:ext uri="{FF2B5EF4-FFF2-40B4-BE49-F238E27FC236}">
                <a16:creationId xmlns:a16="http://schemas.microsoft.com/office/drawing/2014/main" id="{980587ED-AB1B-6D74-C7A1-D048502AD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1569" y="4278509"/>
            <a:ext cx="2626796" cy="26267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EBC346-966A-6E72-17F8-B06208B3731A}"/>
              </a:ext>
            </a:extLst>
          </p:cNvPr>
          <p:cNvSpPr txBox="1"/>
          <p:nvPr/>
        </p:nvSpPr>
        <p:spPr>
          <a:xfrm>
            <a:off x="5164428" y="7237499"/>
            <a:ext cx="33410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 Neue"/>
              </a:rPr>
              <a:t>Google OR-Tools</a:t>
            </a: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  <p:pic>
        <p:nvPicPr>
          <p:cNvPr id="16" name="Рисунок 15" descr="OpenStreetMap-Strategy - Become a Supporter - Digitize the Planet">
            <a:extLst>
              <a:ext uri="{FF2B5EF4-FFF2-40B4-BE49-F238E27FC236}">
                <a16:creationId xmlns:a16="http://schemas.microsoft.com/office/drawing/2014/main" id="{AC2425B5-AF79-2CA8-E53F-308CABAB5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6720" t="22219" r="48860" b="23757"/>
          <a:stretch>
            <a:fillRect/>
          </a:stretch>
        </p:blipFill>
        <p:spPr>
          <a:xfrm>
            <a:off x="781543" y="8611297"/>
            <a:ext cx="3325438" cy="347959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8AD0043-0AC1-40B3-1C8B-82FDEAB8EC01}"/>
              </a:ext>
            </a:extLst>
          </p:cNvPr>
          <p:cNvSpPr txBox="1"/>
          <p:nvPr/>
        </p:nvSpPr>
        <p:spPr>
          <a:xfrm>
            <a:off x="738554" y="12389791"/>
            <a:ext cx="33410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dirty="0"/>
              <a:t>Open street map</a:t>
            </a: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0CF48E-9080-E15D-BDD9-18BE24F530D6}"/>
              </a:ext>
            </a:extLst>
          </p:cNvPr>
          <p:cNvSpPr txBox="1"/>
          <p:nvPr/>
        </p:nvSpPr>
        <p:spPr>
          <a:xfrm>
            <a:off x="5164428" y="12389791"/>
            <a:ext cx="334107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 Neue"/>
              </a:rPr>
              <a:t>2</a:t>
            </a: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j-lt"/>
                <a:ea typeface="+mj-ea"/>
                <a:cs typeface="+mj-cs"/>
                <a:sym typeface="Helvetica Neue"/>
              </a:rPr>
              <a:t>ГИС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D690E51-D267-8C01-A83D-46B14DFC52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5723" y="8755503"/>
            <a:ext cx="2983936" cy="298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4794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DC67C6-6593-0749-4E69-B5CFB2BE4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ED4FB78-E411-5662-74E5-FB45B735B439}"/>
              </a:ext>
            </a:extLst>
          </p:cNvPr>
          <p:cNvSpPr/>
          <p:nvPr/>
        </p:nvSpPr>
        <p:spPr>
          <a:xfrm>
            <a:off x="-1" y="331492"/>
            <a:ext cx="24384001" cy="13384508"/>
          </a:xfrm>
          <a:prstGeom prst="rect">
            <a:avLst/>
          </a:prstGeom>
          <a:solidFill>
            <a:srgbClr val="FFC800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F6B57A8-439D-4ED1-B5E5-840DEDD50EE1}"/>
              </a:ext>
            </a:extLst>
          </p:cNvPr>
          <p:cNvSpPr/>
          <p:nvPr/>
        </p:nvSpPr>
        <p:spPr>
          <a:xfrm>
            <a:off x="-1" y="673492"/>
            <a:ext cx="24384003" cy="6795503"/>
          </a:xfrm>
          <a:prstGeom prst="rect">
            <a:avLst/>
          </a:prstGeom>
          <a:solidFill>
            <a:srgbClr val="141414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FA5C7E3-F784-EF5F-495D-93B1B1D17F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-3" y="7468995"/>
            <a:ext cx="24384007" cy="113246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7891828-9E8B-921F-8905-1B2A39CCC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6" y="603525"/>
            <a:ext cx="24383995" cy="1924260"/>
          </a:xfrm>
          <a:prstGeom prst="rect">
            <a:avLst/>
          </a:prstGeom>
        </p:spPr>
      </p:pic>
      <p:sp>
        <p:nvSpPr>
          <p:cNvPr id="188" name="TextBox 1">
            <a:extLst>
              <a:ext uri="{FF2B5EF4-FFF2-40B4-BE49-F238E27FC236}">
                <a16:creationId xmlns:a16="http://schemas.microsoft.com/office/drawing/2014/main" id="{B59994AA-5D4D-56DE-769C-65E72ACACA79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билайн бизнес · ЛЦТ 2026 · Задача №3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D17B4C6-00A2-FEB2-98F0-98536D29691A}"/>
              </a:ext>
            </a:extLst>
          </p:cNvPr>
          <p:cNvSpPr txBox="1"/>
          <p:nvPr/>
        </p:nvSpPr>
        <p:spPr>
          <a:xfrm>
            <a:off x="4667401" y="4399964"/>
            <a:ext cx="15049198" cy="153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r>
              <a:rPr lang="ru-RU" sz="4759" dirty="0">
                <a:solidFill>
                  <a:schemeClr val="bg1"/>
                </a:solidFill>
                <a:latin typeface="Beeline Sans" panose="020B0500040202020204" pitchFamily="34" charset="0"/>
              </a:rPr>
              <a:t>Веб-сервис распределяет заявки между инженерами и строит маршруты с приоритетами: все заявки выполнены, бригад меньше, пробег короче.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058A8E38-3BA4-CBA7-063B-CABF19698E52}"/>
              </a:ext>
            </a:extLst>
          </p:cNvPr>
          <p:cNvSpPr txBox="1"/>
          <p:nvPr/>
        </p:nvSpPr>
        <p:spPr>
          <a:xfrm>
            <a:off x="3043137" y="3027683"/>
            <a:ext cx="18297726" cy="105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8400" dirty="0">
                <a:solidFill>
                  <a:schemeClr val="bg1"/>
                </a:solidFill>
              </a:rPr>
              <a:t>краткое описание решения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D3199D-4B50-B349-C8C7-55B2F78E8D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676306C0-C282-6076-8D70-A3166C9646B5}"/>
              </a:ext>
            </a:extLst>
          </p:cNvPr>
          <p:cNvSpPr txBox="1"/>
          <p:nvPr/>
        </p:nvSpPr>
        <p:spPr>
          <a:xfrm>
            <a:off x="4667401" y="10470564"/>
            <a:ext cx="15049198" cy="153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r>
              <a:rPr lang="ru-RU" sz="4759" dirty="0">
                <a:solidFill>
                  <a:schemeClr val="tx1"/>
                </a:solidFill>
                <a:latin typeface="Beeline Sans" panose="020B0500040202020204" pitchFamily="34" charset="0"/>
              </a:rPr>
              <a:t>Связка OR-Tools и жадного алгоритма для тёплого старта плюс независимая валидация плана.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315BAC0E-C77A-E6C8-1463-F588E4AADFC1}"/>
              </a:ext>
            </a:extLst>
          </p:cNvPr>
          <p:cNvSpPr txBox="1"/>
          <p:nvPr/>
        </p:nvSpPr>
        <p:spPr>
          <a:xfrm>
            <a:off x="3043137" y="9098283"/>
            <a:ext cx="18297726" cy="105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8400" dirty="0">
                <a:solidFill>
                  <a:schemeClr val="tx1"/>
                </a:solidFill>
              </a:rPr>
              <a:t>уникальность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421466890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152FDF10-3CA2-A7C1-4A45-969B11A7FBFC}"/>
              </a:ext>
            </a:extLst>
          </p:cNvPr>
          <p:cNvSpPr txBox="1"/>
          <p:nvPr/>
        </p:nvSpPr>
        <p:spPr>
          <a:xfrm>
            <a:off x="607742" y="1259723"/>
            <a:ext cx="16673285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/>
              <a:t>Мультимодальный парк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434935-0932-A3C6-A56B-4B00181DF3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41A1336-CD94-0A08-8D92-143EFE4688F0}"/>
              </a:ext>
            </a:extLst>
          </p:cNvPr>
          <p:cNvGrpSpPr/>
          <p:nvPr/>
        </p:nvGrpSpPr>
        <p:grpSpPr>
          <a:xfrm>
            <a:off x="648000" y="6858000"/>
            <a:ext cx="3644600" cy="3916356"/>
            <a:chOff x="648000" y="6858000"/>
            <a:chExt cx="3644600" cy="3916356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CD546D74-ECCA-64BD-2138-FCDDA70A6411}"/>
                </a:ext>
              </a:extLst>
            </p:cNvPr>
            <p:cNvSpPr txBox="1"/>
            <p:nvPr/>
          </p:nvSpPr>
          <p:spPr>
            <a:xfrm>
              <a:off x="648001" y="8312143"/>
              <a:ext cx="3644599" cy="50292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>
                <a:spcBef>
                  <a:spcPts val="1000"/>
                </a:spcBef>
                <a:defRPr sz="2100" spc="0" baseline="476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ru-RU" sz="4200" b="1" dirty="0">
                  <a:latin typeface="Beeline Sans" panose="020B0500040202020204" pitchFamily="34" charset="0"/>
                </a:rPr>
                <a:t>🚗 Автомобили
Срочные аварии, удаленные точки, багажник на 30 ед. оборудования.</a:t>
              </a:r>
            </a:p>
            <a:p>
              <a:pPr algn="l"/>
              <a:endParaRPr lang="ru-RU" sz="4200" b="1" dirty="0">
                <a:latin typeface="Beeline Sans" panose="020B0500040202020204" pitchFamily="34" charset="0"/>
              </a:endParaRPr>
            </a:p>
          </p:txBody>
        </p:sp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3174A160-7E88-549C-85FA-37AF53814748}"/>
                </a:ext>
              </a:extLst>
            </p:cNvPr>
            <p:cNvSpPr txBox="1"/>
            <p:nvPr/>
          </p:nvSpPr>
          <p:spPr>
            <a:xfrm>
              <a:off x="648000" y="6858000"/>
              <a:ext cx="2692771" cy="11079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90000"/>
                </a:lnSpc>
                <a:defRPr sz="5400" spc="-53">
                  <a:solidFill>
                    <a:srgbClr val="000000"/>
                  </a:solidFill>
                  <a:latin typeface="Beeline Sans Black"/>
                  <a:ea typeface="Beeline Sans Black"/>
                  <a:cs typeface="Beeline Sans Black"/>
                  <a:sym typeface="Beeline Sans Black"/>
                </a:defRPr>
              </a:pPr>
              <a:r>
                <a:rPr lang="ru-RU" sz="8000" dirty="0">
                  <a:solidFill>
                    <a:srgbClr val="141414"/>
                  </a:solidFill>
                </a:rPr>
                <a:t>#1 </a:t>
              </a:r>
            </a:p>
          </p:txBody>
        </p:sp>
      </p:grpSp>
      <p:sp>
        <p:nvSpPr>
          <p:cNvPr id="30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BE541022-D522-4363-EDB4-C83D6C2AC7FB}"/>
              </a:ext>
            </a:extLst>
          </p:cNvPr>
          <p:cNvSpPr txBox="1"/>
          <p:nvPr/>
        </p:nvSpPr>
        <p:spPr>
          <a:xfrm>
            <a:off x="607742" y="2626662"/>
            <a:ext cx="16673285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5600" b="0" dirty="0"/>
              <a:t>подбор транспорта под плотность застройки и дорожную сеть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A28963-57E4-EEEC-59AC-B0AF968B0E68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ru-RU" sz="1200" dirty="0"/>
              <a:t>билайн бизнес · ЛЦТ 2026 · Задача №3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275B23CB-C1E3-6939-2055-B0A51B68C5D8}"/>
              </a:ext>
            </a:extLst>
          </p:cNvPr>
          <p:cNvGrpSpPr/>
          <p:nvPr/>
        </p:nvGrpSpPr>
        <p:grpSpPr>
          <a:xfrm>
            <a:off x="6913333" y="6858000"/>
            <a:ext cx="3644600" cy="3916356"/>
            <a:chOff x="6083600" y="6858000"/>
            <a:chExt cx="3644600" cy="3916356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B4C5389A-394F-2029-6AED-5D83657BA0CB}"/>
                </a:ext>
              </a:extLst>
            </p:cNvPr>
            <p:cNvSpPr txBox="1"/>
            <p:nvPr/>
          </p:nvSpPr>
          <p:spPr>
            <a:xfrm>
              <a:off x="6083601" y="8312143"/>
              <a:ext cx="3644599" cy="50292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>
                <a:spcBef>
                  <a:spcPts val="1000"/>
                </a:spcBef>
                <a:defRPr sz="2100" spc="0" baseline="476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ru-RU" sz="4200" b="1" dirty="0">
                  <a:latin typeface="Beeline Sans" panose="020B0500040202020204" pitchFamily="34" charset="0"/>
                </a:rPr>
                <a:t>🚌 Транспорт / метро
Выделенные полосы, метро, иммунитет к пробкам в часы пик, рюкзак 18 ед.</a:t>
              </a:r>
            </a:p>
            <a:p>
              <a:pPr algn="l"/>
              <a:endParaRPr lang="ru-RU" sz="4200" b="1" dirty="0">
                <a:latin typeface="Beeline Sans" panose="020B0500040202020204" pitchFamily="34" charset="0"/>
              </a:endParaRP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C05BED69-029E-C1D7-9F0F-C12C585D7B08}"/>
                </a:ext>
              </a:extLst>
            </p:cNvPr>
            <p:cNvSpPr txBox="1"/>
            <p:nvPr/>
          </p:nvSpPr>
          <p:spPr>
            <a:xfrm>
              <a:off x="6083600" y="6858000"/>
              <a:ext cx="2692771" cy="11079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90000"/>
                </a:lnSpc>
                <a:defRPr sz="5400" spc="-53">
                  <a:solidFill>
                    <a:srgbClr val="000000"/>
                  </a:solidFill>
                  <a:latin typeface="Beeline Sans Black"/>
                  <a:ea typeface="Beeline Sans Black"/>
                  <a:cs typeface="Beeline Sans Black"/>
                  <a:sym typeface="Beeline Sans Black"/>
                </a:defRPr>
              </a:pPr>
              <a:r>
                <a:rPr lang="ru-RU" sz="8000" dirty="0">
                  <a:solidFill>
                    <a:srgbClr val="141414"/>
                  </a:solidFill>
                </a:rPr>
                <a:t>#2 </a:t>
              </a:r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FDFD6E56-0ECD-8038-9E1D-D356E3C5C6CA}"/>
              </a:ext>
            </a:extLst>
          </p:cNvPr>
          <p:cNvGrpSpPr/>
          <p:nvPr/>
        </p:nvGrpSpPr>
        <p:grpSpPr>
          <a:xfrm>
            <a:off x="13178666" y="6858000"/>
            <a:ext cx="3644600" cy="3916356"/>
            <a:chOff x="12509800" y="6858000"/>
            <a:chExt cx="3644600" cy="3916356"/>
          </a:xfrm>
        </p:grpSpPr>
        <p:sp>
          <p:nvSpPr>
            <p:cNvPr id="12" name="TextBox 3">
              <a:extLst>
                <a:ext uri="{FF2B5EF4-FFF2-40B4-BE49-F238E27FC236}">
                  <a16:creationId xmlns:a16="http://schemas.microsoft.com/office/drawing/2014/main" id="{BD2CFCBC-72B6-F2B3-9A30-B960518833AB}"/>
                </a:ext>
              </a:extLst>
            </p:cNvPr>
            <p:cNvSpPr txBox="1"/>
            <p:nvPr/>
          </p:nvSpPr>
          <p:spPr>
            <a:xfrm>
              <a:off x="12509801" y="8312143"/>
              <a:ext cx="3644599" cy="50292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>
                <a:spcBef>
                  <a:spcPts val="1000"/>
                </a:spcBef>
                <a:defRPr sz="2100" spc="0" baseline="476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ru-RU" sz="4200" b="1" dirty="0">
                  <a:latin typeface="Beeline Sans" panose="020B0500040202020204" pitchFamily="34" charset="0"/>
                </a:rPr>
                <a:t>🚲 Велосипеды / СИМ
Быстрый доезд в плотных микрорайонах без поиска парковки, рюкзак 14 ед.</a:t>
              </a:r>
            </a:p>
            <a:p>
              <a:pPr algn="l"/>
              <a:endParaRPr lang="ru-RU" sz="4200" b="1" dirty="0">
                <a:latin typeface="Beeline Sans" panose="020B0500040202020204" pitchFamily="34" charset="0"/>
              </a:endParaRPr>
            </a:p>
          </p:txBody>
        </p:sp>
        <p:sp>
          <p:nvSpPr>
            <p:cNvPr id="13" name="TextBox 2">
              <a:extLst>
                <a:ext uri="{FF2B5EF4-FFF2-40B4-BE49-F238E27FC236}">
                  <a16:creationId xmlns:a16="http://schemas.microsoft.com/office/drawing/2014/main" id="{FC47B528-3D09-3B0D-B142-5A96E339AAAC}"/>
                </a:ext>
              </a:extLst>
            </p:cNvPr>
            <p:cNvSpPr txBox="1"/>
            <p:nvPr/>
          </p:nvSpPr>
          <p:spPr>
            <a:xfrm>
              <a:off x="12509800" y="6858000"/>
              <a:ext cx="2692771" cy="11079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90000"/>
                </a:lnSpc>
                <a:defRPr sz="5400" spc="-53">
                  <a:solidFill>
                    <a:srgbClr val="000000"/>
                  </a:solidFill>
                  <a:latin typeface="Beeline Sans Black"/>
                  <a:ea typeface="Beeline Sans Black"/>
                  <a:cs typeface="Beeline Sans Black"/>
                  <a:sym typeface="Beeline Sans Black"/>
                </a:defRPr>
              </a:pPr>
              <a:r>
                <a:rPr lang="ru-RU" sz="8000" dirty="0">
                  <a:solidFill>
                    <a:srgbClr val="141414"/>
                  </a:solidFill>
                </a:rPr>
                <a:t>#3 </a:t>
              </a: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5E430C1-4613-25AD-5186-B498D97237C6}"/>
              </a:ext>
            </a:extLst>
          </p:cNvPr>
          <p:cNvGrpSpPr/>
          <p:nvPr/>
        </p:nvGrpSpPr>
        <p:grpSpPr>
          <a:xfrm>
            <a:off x="19444000" y="6858000"/>
            <a:ext cx="3644600" cy="3305932"/>
            <a:chOff x="19444000" y="6858000"/>
            <a:chExt cx="3644600" cy="3305932"/>
          </a:xfrm>
        </p:grpSpPr>
        <p:sp>
          <p:nvSpPr>
            <p:cNvPr id="14" name="TextBox 3">
              <a:extLst>
                <a:ext uri="{FF2B5EF4-FFF2-40B4-BE49-F238E27FC236}">
                  <a16:creationId xmlns:a16="http://schemas.microsoft.com/office/drawing/2014/main" id="{87BCDAB1-230A-193B-FB62-06090C76A556}"/>
                </a:ext>
              </a:extLst>
            </p:cNvPr>
            <p:cNvSpPr txBox="1"/>
            <p:nvPr/>
          </p:nvSpPr>
          <p:spPr>
            <a:xfrm>
              <a:off x="19444001" y="8312143"/>
              <a:ext cx="3644599" cy="18517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>
                <a:spcBef>
                  <a:spcPts val="1000"/>
                </a:spcBef>
                <a:defRPr sz="2100" spc="0" baseline="476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ru-RU" sz="4200" b="1" dirty="0">
                  <a:latin typeface="Beeline Sans" panose="020B0500040202020204" pitchFamily="34" charset="0"/>
                </a:rPr>
                <a:t>🚶 Пешие мастера
Шаговая доступность (до 1.5 км от склада билайн). Базы в Кашире, Ступино, Домодедово.</a:t>
              </a:r>
            </a:p>
            <a:p>
              <a:pPr algn="l"/>
              <a:endParaRPr lang="ru-RU" sz="4200" b="1" dirty="0">
                <a:latin typeface="Beeline Sans" panose="020B0500040202020204" pitchFamily="34" charset="0"/>
              </a:endParaRPr>
            </a:p>
          </p:txBody>
        </p:sp>
        <p:sp>
          <p:nvSpPr>
            <p:cNvPr id="15" name="TextBox 2">
              <a:extLst>
                <a:ext uri="{FF2B5EF4-FFF2-40B4-BE49-F238E27FC236}">
                  <a16:creationId xmlns:a16="http://schemas.microsoft.com/office/drawing/2014/main" id="{FB381585-7393-4325-D3C3-25083F8F10D4}"/>
                </a:ext>
              </a:extLst>
            </p:cNvPr>
            <p:cNvSpPr txBox="1"/>
            <p:nvPr/>
          </p:nvSpPr>
          <p:spPr>
            <a:xfrm>
              <a:off x="19444000" y="6858000"/>
              <a:ext cx="2692771" cy="11079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90000"/>
                </a:lnSpc>
                <a:defRPr sz="5400" spc="-53">
                  <a:solidFill>
                    <a:srgbClr val="000000"/>
                  </a:solidFill>
                  <a:latin typeface="Beeline Sans Black"/>
                  <a:ea typeface="Beeline Sans Black"/>
                  <a:cs typeface="Beeline Sans Black"/>
                  <a:sym typeface="Beeline Sans Black"/>
                </a:defRPr>
              </a:pPr>
              <a:r>
                <a:rPr lang="ru-RU" sz="8000" dirty="0">
                  <a:solidFill>
                    <a:srgbClr val="141414"/>
                  </a:solidFill>
                </a:rPr>
                <a:t>#4</a:t>
              </a:r>
            </a:p>
          </p:txBody>
        </p:sp>
      </p:grp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85CE0718-4DB8-A8C3-DA87-125270AA52D6}"/>
              </a:ext>
            </a:extLst>
          </p:cNvPr>
          <p:cNvCxnSpPr>
            <a:cxnSpLocks/>
          </p:cNvCxnSpPr>
          <p:nvPr/>
        </p:nvCxnSpPr>
        <p:spPr>
          <a:xfrm flipV="1">
            <a:off x="6070600" y="6858000"/>
            <a:ext cx="0" cy="6294428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CF9D9441-71C0-76A4-4329-49E90B924654}"/>
              </a:ext>
            </a:extLst>
          </p:cNvPr>
          <p:cNvCxnSpPr>
            <a:cxnSpLocks/>
          </p:cNvCxnSpPr>
          <p:nvPr/>
        </p:nvCxnSpPr>
        <p:spPr>
          <a:xfrm flipV="1">
            <a:off x="12382500" y="6858000"/>
            <a:ext cx="0" cy="6294428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9519FCDC-FC5D-6F19-10A5-308CE9058409}"/>
              </a:ext>
            </a:extLst>
          </p:cNvPr>
          <p:cNvCxnSpPr>
            <a:cxnSpLocks/>
          </p:cNvCxnSpPr>
          <p:nvPr/>
        </p:nvCxnSpPr>
        <p:spPr>
          <a:xfrm flipV="1">
            <a:off x="18694400" y="6858000"/>
            <a:ext cx="0" cy="6294428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320470-BA1F-C1FE-38B2-5AE284143FFC}"/>
              </a:ext>
            </a:extLst>
          </p:cNvPr>
          <p:cNvSpPr/>
          <p:nvPr/>
        </p:nvSpPr>
        <p:spPr>
          <a:xfrm>
            <a:off x="607742" y="5513117"/>
            <a:ext cx="5109465" cy="660947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603CEDA0-DF0F-EBC5-F3F3-A953472BDE6C}"/>
              </a:ext>
            </a:extLst>
          </p:cNvPr>
          <p:cNvSpPr/>
          <p:nvPr/>
        </p:nvSpPr>
        <p:spPr>
          <a:xfrm>
            <a:off x="6703742" y="5513117"/>
            <a:ext cx="5109465" cy="660947"/>
          </a:xfrm>
          <a:prstGeom prst="rect">
            <a:avLst/>
          </a:prstGeom>
          <a:solidFill>
            <a:schemeClr val="tx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5024E8E-92E8-D258-1AD6-D7FE597CD52B}"/>
              </a:ext>
            </a:extLst>
          </p:cNvPr>
          <p:cNvSpPr/>
          <p:nvPr/>
        </p:nvSpPr>
        <p:spPr>
          <a:xfrm>
            <a:off x="12799742" y="5513117"/>
            <a:ext cx="5109465" cy="660947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F00EB7D-BC27-6AAB-99BC-490DA137BAFD}"/>
              </a:ext>
            </a:extLst>
          </p:cNvPr>
          <p:cNvSpPr/>
          <p:nvPr/>
        </p:nvSpPr>
        <p:spPr>
          <a:xfrm>
            <a:off x="18895742" y="5513117"/>
            <a:ext cx="5109465" cy="660947"/>
          </a:xfrm>
          <a:prstGeom prst="rect">
            <a:avLst/>
          </a:prstGeom>
          <a:solidFill>
            <a:schemeClr val="tx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3A0A7-A7A6-7E99-1903-3A9E8098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>
            <a:extLst>
              <a:ext uri="{FF2B5EF4-FFF2-40B4-BE49-F238E27FC236}">
                <a16:creationId xmlns:a16="http://schemas.microsoft.com/office/drawing/2014/main" id="{B28127D8-DB49-225D-5114-1E18D55EA2A3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ru-RU" sz="1200" dirty="0"/>
              <a:t>билайн бизнес · ЛЦТ 2026 · Задача №3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B2E39542-35C3-65AE-8620-463A6CBF7E03}"/>
              </a:ext>
            </a:extLst>
          </p:cNvPr>
          <p:cNvSpPr txBox="1"/>
          <p:nvPr/>
        </p:nvSpPr>
        <p:spPr>
          <a:xfrm>
            <a:off x="648002" y="5575597"/>
            <a:ext cx="9638998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5000" dirty="0">
                <a:latin typeface="Beeline Sans" panose="020B0500040202020204" pitchFamily="34" charset="0"/>
              </a:rPr>
              <a:t>Модель VRP-TW-S-C-M: окна 2 ч, навыки, вместимость, мультимодальный парк.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B4230811-91D8-3A03-C7EC-FB015F595196}"/>
              </a:ext>
            </a:extLst>
          </p:cNvPr>
          <p:cNvSpPr txBox="1"/>
          <p:nvPr/>
        </p:nvSpPr>
        <p:spPr>
          <a:xfrm>
            <a:off x="648000" y="2245665"/>
            <a:ext cx="9156400" cy="1880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9000" dirty="0">
                <a:solidFill>
                  <a:srgbClr val="141414"/>
                </a:solidFill>
              </a:rPr>
              <a:t>Коротко</a:t>
            </a:r>
          </a:p>
          <a:p>
            <a:pPr algn="l"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9000" dirty="0">
                <a:solidFill>
                  <a:srgbClr val="141414"/>
                </a:solidFill>
              </a:rPr>
              <a:t>о решении</a:t>
            </a: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4AA78993-0BE0-F411-EC98-D99E5A6609C4}"/>
              </a:ext>
            </a:extLst>
          </p:cNvPr>
          <p:cNvSpPr/>
          <p:nvPr/>
        </p:nvSpPr>
        <p:spPr>
          <a:xfrm>
            <a:off x="12483548" y="-4590"/>
            <a:ext cx="11900452" cy="13725180"/>
          </a:xfrm>
          <a:prstGeom prst="rect">
            <a:avLst/>
          </a:prstGeom>
          <a:solidFill>
            <a:schemeClr val="tx2"/>
          </a:solidFill>
          <a:ln w="12700">
            <a:miter lim="400000"/>
          </a:ln>
        </p:spPr>
        <p:txBody>
          <a:bodyPr lIns="91438" rIns="91438" anchor="ctr"/>
          <a:lstStyle/>
          <a:p>
            <a:pPr>
              <a:defRPr sz="1800">
                <a:solidFill>
                  <a:srgbClr val="FFDF40"/>
                </a:solidFill>
                <a:latin typeface="+mn-lt"/>
                <a:ea typeface="+mn-ea"/>
                <a:cs typeface="+mn-cs"/>
                <a:sym typeface="Aptos"/>
              </a:defRPr>
            </a:pPr>
            <a:endParaRPr lang="ru-RU" sz="3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DCDD83-82BA-731A-B231-B6B6F8ED61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CCFFEB64-6B1F-5ADF-30F1-2245C2D061EB}"/>
              </a:ext>
            </a:extLst>
          </p:cNvPr>
          <p:cNvSpPr txBox="1"/>
          <p:nvPr/>
        </p:nvSpPr>
        <p:spPr>
          <a:xfrm>
            <a:off x="13475002" y="2545234"/>
            <a:ext cx="9966960" cy="346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5000" dirty="0">
                <a:solidFill>
                  <a:schemeClr val="bg1"/>
                </a:solidFill>
                <a:latin typeface="Beeline Sans" panose="020B0500040202020204" pitchFamily="34" charset="0"/>
              </a:rPr>
              <a:t>Цель: заявка ≫ бригада ≫ километр (веса 10⁶ / 10³ / 1)</a:t>
            </a:r>
          </a:p>
          <a:p>
            <a:pPr algn="l"/>
            <a:r>
              <a:rPr lang="ru-RU" sz="5000" dirty="0">
                <a:solidFill>
                  <a:schemeClr val="bg1"/>
                </a:solidFill>
                <a:latin typeface="Beeline Sans" panose="020B0500040202020204" pitchFamily="34" charset="0"/>
              </a:rPr>
              <a:t>4-Pass жадная эвристика → тёплый старт → OR-Tools Guided Local Search</a:t>
            </a:r>
          </a:p>
          <a:p>
            <a:pPr algn="l"/>
            <a:r>
              <a:rPr lang="ru-RU" sz="5000" dirty="0">
                <a:solidFill>
                  <a:schemeClr val="bg1"/>
                </a:solidFill>
                <a:latin typeface="Beeline Sans" panose="020B0500040202020204" pitchFamily="34" charset="0"/>
              </a:rPr>
              <a:t>Расстояния по графам OSM (OSRM, FOSSGIS)</a:t>
            </a:r>
          </a:p>
          <a:p>
            <a:pPr algn="l"/>
            <a:r>
              <a:rPr lang="ru-RU" sz="5000" dirty="0">
                <a:solidFill>
                  <a:schemeClr val="bg1"/>
                </a:solidFill>
                <a:latin typeface="Beeline Sans" panose="020B0500040202020204" pitchFamily="34" charset="0"/>
              </a:rPr>
              <a:t>Независимый валидатор: окна, смены, навыки, вместимость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77F44E-08EA-A606-BFDF-68DDF110C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40" y="8486455"/>
            <a:ext cx="11931860" cy="206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2956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6AF31-283F-1E3B-FBD4-814747B1F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1D35BE-8BBB-209B-8C43-37BA44A7E9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2716"/>
            <a:ext cx="24384000" cy="13728715"/>
          </a:xfrm>
          <a:prstGeom prst="rect">
            <a:avLst/>
          </a:prstGeom>
        </p:spPr>
      </p:pic>
      <p:sp>
        <p:nvSpPr>
          <p:cNvPr id="3" name="Прямоугольник 1">
            <a:extLst>
              <a:ext uri="{FF2B5EF4-FFF2-40B4-BE49-F238E27FC236}">
                <a16:creationId xmlns:a16="http://schemas.microsoft.com/office/drawing/2014/main" id="{6F3A1D2B-9D48-8F07-2F42-8FEC0194462E}"/>
              </a:ext>
            </a:extLst>
          </p:cNvPr>
          <p:cNvSpPr txBox="1"/>
          <p:nvPr/>
        </p:nvSpPr>
        <p:spPr>
          <a:xfrm>
            <a:off x="67732" y="647012"/>
            <a:ext cx="14630400" cy="95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 anchor="b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ru-RU" sz="4800" b="1" dirty="0">
                <a:solidFill>
                  <a:schemeClr val="bg1"/>
                </a:solidFill>
                <a:latin typeface="Beeline Sans" panose="020B0500040202020204" pitchFamily="34" charset="0"/>
              </a:rPr>
              <a:t>Архитектура решения</a:t>
            </a:r>
          </a:p>
        </p:txBody>
      </p:sp>
      <p:sp>
        <p:nvSpPr>
          <p:cNvPr id="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2402DC88-49E0-7D65-D246-2A292425C2E5}"/>
              </a:ext>
            </a:extLst>
          </p:cNvPr>
          <p:cNvSpPr txBox="1"/>
          <p:nvPr/>
        </p:nvSpPr>
        <p:spPr>
          <a:xfrm>
            <a:off x="607743" y="3186928"/>
            <a:ext cx="5285058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759" dirty="0">
                <a:solidFill>
                  <a:schemeClr val="bg1"/>
                </a:solidFill>
              </a:rPr>
              <a:t>4-Pass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01E040-363F-D19E-8EDE-425038D0C3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B43B8793-CD86-8E62-9EFD-8E8062C4825C}"/>
              </a:ext>
            </a:extLst>
          </p:cNvPr>
          <p:cNvSpPr txBox="1"/>
          <p:nvPr/>
        </p:nvSpPr>
        <p:spPr>
          <a:xfrm>
            <a:off x="607743" y="6858000"/>
            <a:ext cx="3870845" cy="410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4200" dirty="0">
                <a:solidFill>
                  <a:schemeClr val="bg1"/>
                </a:solidFill>
                <a:latin typeface="Beeline Sans" panose="020B0500040202020204" pitchFamily="34" charset="0"/>
              </a:rPr>
              <a:t>Очереди: аварии на ТКД → подключения → ремонты → дозаказы. Быстрый допустимый план.</a:t>
            </a:r>
          </a:p>
        </p:txBody>
      </p:sp>
      <p:sp>
        <p:nvSpPr>
          <p:cNvPr id="8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4B6F6149-1DCC-276E-B20C-F69298D1D272}"/>
              </a:ext>
            </a:extLst>
          </p:cNvPr>
          <p:cNvSpPr txBox="1"/>
          <p:nvPr/>
        </p:nvSpPr>
        <p:spPr>
          <a:xfrm>
            <a:off x="607743" y="5423584"/>
            <a:ext cx="5285058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9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637A22F2-651F-2423-935F-29D596460E50}"/>
              </a:ext>
            </a:extLst>
          </p:cNvPr>
          <p:cNvSpPr txBox="1"/>
          <p:nvPr/>
        </p:nvSpPr>
        <p:spPr>
          <a:xfrm>
            <a:off x="7008543" y="3186928"/>
            <a:ext cx="5285058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759" dirty="0">
                <a:solidFill>
                  <a:schemeClr val="tx2"/>
                </a:solidFill>
              </a:rPr>
              <a:t>OR-Tools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A7585EF-3DCD-DB49-8C9E-899D15EE6340}"/>
              </a:ext>
            </a:extLst>
          </p:cNvPr>
          <p:cNvSpPr txBox="1"/>
          <p:nvPr/>
        </p:nvSpPr>
        <p:spPr>
          <a:xfrm>
            <a:off x="7008543" y="6858000"/>
            <a:ext cx="3870845" cy="410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4200" dirty="0">
                <a:solidFill>
                  <a:schemeClr val="tx2"/>
                </a:solidFill>
                <a:latin typeface="Beeline Sans" panose="020B0500040202020204" pitchFamily="34" charset="0"/>
              </a:rPr>
              <a:t>Тёплый старт и Guided Local Search: окна, смена, навыки, вместимость.</a:t>
            </a:r>
          </a:p>
        </p:txBody>
      </p:sp>
      <p:sp>
        <p:nvSpPr>
          <p:cNvPr id="11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B466D5A8-3D83-DFB6-F2C5-FBC619457B4D}"/>
              </a:ext>
            </a:extLst>
          </p:cNvPr>
          <p:cNvSpPr txBox="1"/>
          <p:nvPr/>
        </p:nvSpPr>
        <p:spPr>
          <a:xfrm>
            <a:off x="7008543" y="5423584"/>
            <a:ext cx="5285058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12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7ED0B50A-CF4E-CC08-C51C-8125F4BE311F}"/>
              </a:ext>
            </a:extLst>
          </p:cNvPr>
          <p:cNvSpPr txBox="1"/>
          <p:nvPr/>
        </p:nvSpPr>
        <p:spPr>
          <a:xfrm>
            <a:off x="13282343" y="3186928"/>
            <a:ext cx="5285058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759" dirty="0">
                <a:solidFill>
                  <a:schemeClr val="bg1"/>
                </a:solidFill>
              </a:rPr>
              <a:t>Валидатор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17A63394-A14A-470D-49D3-019F41C7C1A8}"/>
              </a:ext>
            </a:extLst>
          </p:cNvPr>
          <p:cNvSpPr txBox="1"/>
          <p:nvPr/>
        </p:nvSpPr>
        <p:spPr>
          <a:xfrm>
            <a:off x="13282343" y="6858000"/>
            <a:ext cx="3870845" cy="410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4200" dirty="0">
                <a:solidFill>
                  <a:schemeClr val="bg1"/>
                </a:solidFill>
                <a:latin typeface="Beeline Sans" panose="020B0500040202020204" pitchFamily="34" charset="0"/>
              </a:rPr>
              <a:t>Независимый пересчёт всех маршрутов: окна, смены, навыки, вместимость.</a:t>
            </a:r>
          </a:p>
        </p:txBody>
      </p:sp>
      <p:sp>
        <p:nvSpPr>
          <p:cNvPr id="1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5047F3C3-18B7-9049-389B-908DE639E746}"/>
              </a:ext>
            </a:extLst>
          </p:cNvPr>
          <p:cNvSpPr txBox="1"/>
          <p:nvPr/>
        </p:nvSpPr>
        <p:spPr>
          <a:xfrm>
            <a:off x="13282343" y="5423584"/>
            <a:ext cx="5285058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5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42156232-63AC-CEC3-33A4-E6B21A9A4519}"/>
              </a:ext>
            </a:extLst>
          </p:cNvPr>
          <p:cNvSpPr txBox="1"/>
          <p:nvPr/>
        </p:nvSpPr>
        <p:spPr>
          <a:xfrm>
            <a:off x="19556143" y="3186928"/>
            <a:ext cx="5285058" cy="761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759" dirty="0" err="1">
                <a:solidFill>
                  <a:schemeClr val="tx2"/>
                </a:solidFill>
              </a:rPr>
              <a:t>xAI</a:t>
            </a:r>
            <a:endParaRPr lang="ru-RU" sz="4759" dirty="0">
              <a:solidFill>
                <a:schemeClr val="tx2"/>
              </a:solidFill>
            </a:endParaRP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5B05020A-75A2-961D-5E1E-9CE5A2099C3E}"/>
              </a:ext>
            </a:extLst>
          </p:cNvPr>
          <p:cNvSpPr txBox="1"/>
          <p:nvPr/>
        </p:nvSpPr>
        <p:spPr>
          <a:xfrm>
            <a:off x="19556143" y="6858000"/>
            <a:ext cx="3870845" cy="410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4200" dirty="0">
                <a:solidFill>
                  <a:schemeClr val="tx2"/>
                </a:solidFill>
                <a:latin typeface="Beeline Sans" panose="020B0500040202020204" pitchFamily="34" charset="0"/>
              </a:rPr>
              <a:t>Понятное объяснение каждого назначения для диспетчера.</a:t>
            </a:r>
          </a:p>
        </p:txBody>
      </p:sp>
      <p:sp>
        <p:nvSpPr>
          <p:cNvPr id="17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A3ACEAB7-7A2A-B0E5-9CD8-A039B720B4EF}"/>
              </a:ext>
            </a:extLst>
          </p:cNvPr>
          <p:cNvSpPr txBox="1"/>
          <p:nvPr/>
        </p:nvSpPr>
        <p:spPr>
          <a:xfrm>
            <a:off x="19556143" y="5423584"/>
            <a:ext cx="5285058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>
                <a:solidFill>
                  <a:schemeClr val="tx2"/>
                </a:solidFill>
              </a:rPr>
              <a:t>04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78B5051D-513D-06EE-9D93-6255D628D73F}"/>
              </a:ext>
            </a:extLst>
          </p:cNvPr>
          <p:cNvCxnSpPr/>
          <p:nvPr/>
        </p:nvCxnSpPr>
        <p:spPr>
          <a:xfrm>
            <a:off x="607742" y="6659572"/>
            <a:ext cx="480245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AB5912EF-5205-6F4E-484C-F3251575156D}"/>
              </a:ext>
            </a:extLst>
          </p:cNvPr>
          <p:cNvCxnSpPr/>
          <p:nvPr/>
        </p:nvCxnSpPr>
        <p:spPr>
          <a:xfrm>
            <a:off x="13231542" y="6659572"/>
            <a:ext cx="480245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C37F54A9-EDE1-A1AF-917E-5B9883B0DD00}"/>
              </a:ext>
            </a:extLst>
          </p:cNvPr>
          <p:cNvCxnSpPr>
            <a:cxnSpLocks/>
          </p:cNvCxnSpPr>
          <p:nvPr/>
        </p:nvCxnSpPr>
        <p:spPr>
          <a:xfrm>
            <a:off x="19530742" y="6659572"/>
            <a:ext cx="4269058" cy="0"/>
          </a:xfrm>
          <a:prstGeom prst="line">
            <a:avLst/>
          </a:prstGeom>
          <a:noFill/>
          <a:ln w="25400" cap="flat">
            <a:solidFill>
              <a:schemeClr val="tx2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8599427-AB5D-B00F-DC4F-B0C11E5A812E}"/>
              </a:ext>
            </a:extLst>
          </p:cNvPr>
          <p:cNvCxnSpPr/>
          <p:nvPr/>
        </p:nvCxnSpPr>
        <p:spPr>
          <a:xfrm>
            <a:off x="6983142" y="6659572"/>
            <a:ext cx="4802458" cy="0"/>
          </a:xfrm>
          <a:prstGeom prst="line">
            <a:avLst/>
          </a:prstGeom>
          <a:noFill/>
          <a:ln w="25400" cap="flat">
            <a:solidFill>
              <a:schemeClr val="tx2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27859465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095B6-AD9A-0733-4436-1B9F135E9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152FDF10-3CA2-A7C1-4A45-969B11A7FBFC}"/>
              </a:ext>
            </a:extLst>
          </p:cNvPr>
          <p:cNvSpPr txBox="1"/>
          <p:nvPr/>
        </p:nvSpPr>
        <p:spPr>
          <a:xfrm>
            <a:off x="607742" y="1259723"/>
            <a:ext cx="16673285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/>
              <a:t>Возможности диспетчера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434935-0932-A3C6-A56B-4B00181DF3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41A1336-CD94-0A08-8D92-143EFE4688F0}"/>
              </a:ext>
            </a:extLst>
          </p:cNvPr>
          <p:cNvGrpSpPr/>
          <p:nvPr/>
        </p:nvGrpSpPr>
        <p:grpSpPr>
          <a:xfrm>
            <a:off x="648000" y="6858000"/>
            <a:ext cx="3644600" cy="3916356"/>
            <a:chOff x="648000" y="6858000"/>
            <a:chExt cx="3644600" cy="3916356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CD546D74-ECCA-64BD-2138-FCDDA70A6411}"/>
                </a:ext>
              </a:extLst>
            </p:cNvPr>
            <p:cNvSpPr txBox="1"/>
            <p:nvPr/>
          </p:nvSpPr>
          <p:spPr>
            <a:xfrm>
              <a:off x="648001" y="8312143"/>
              <a:ext cx="3644599" cy="50292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>
                <a:spcBef>
                  <a:spcPts val="1000"/>
                </a:spcBef>
                <a:defRPr sz="2100" spc="0" baseline="476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ru-RU" sz="4200" b="1" dirty="0">
                  <a:latin typeface="Beeline Sans" panose="020B0500040202020204" pitchFamily="34" charset="0"/>
                </a:rPr>
                <a:t>Контроль SLA</a:t>
              </a:r>
            </a:p>
            <a:p>
              <a:pPr algn="l"/>
              <a:r>
                <a:rPr lang="ru-RU" sz="4200" dirty="0">
                  <a:latin typeface="Beeline Sans" panose="020B0500040202020204" pitchFamily="34" charset="0"/>
                </a:rPr>
                <a:t>Запас до срыва окна: &gt;30, 15–30, &lt;15 мин.</a:t>
              </a:r>
            </a:p>
          </p:txBody>
        </p:sp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3174A160-7E88-549C-85FA-37AF53814748}"/>
                </a:ext>
              </a:extLst>
            </p:cNvPr>
            <p:cNvSpPr txBox="1"/>
            <p:nvPr/>
          </p:nvSpPr>
          <p:spPr>
            <a:xfrm>
              <a:off x="648000" y="6858000"/>
              <a:ext cx="2692771" cy="11079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90000"/>
                </a:lnSpc>
                <a:defRPr sz="5400" spc="-53">
                  <a:solidFill>
                    <a:srgbClr val="000000"/>
                  </a:solidFill>
                  <a:latin typeface="Beeline Sans Black"/>
                  <a:ea typeface="Beeline Sans Black"/>
                  <a:cs typeface="Beeline Sans Black"/>
                  <a:sym typeface="Beeline Sans Black"/>
                </a:defRPr>
              </a:pPr>
              <a:r>
                <a:rPr lang="ru-RU" sz="8000" dirty="0">
                  <a:solidFill>
                    <a:srgbClr val="141414"/>
                  </a:solidFill>
                </a:rPr>
                <a:t>#1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FA28963-57E4-EEEC-59AC-B0AF968B0E68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ru-RU" sz="1200" dirty="0"/>
              <a:t>билайн бизнес · ЛЦТ 2026 · Задача №3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275B23CB-C1E3-6939-2055-B0A51B68C5D8}"/>
              </a:ext>
            </a:extLst>
          </p:cNvPr>
          <p:cNvGrpSpPr/>
          <p:nvPr/>
        </p:nvGrpSpPr>
        <p:grpSpPr>
          <a:xfrm>
            <a:off x="6913333" y="6858000"/>
            <a:ext cx="3644600" cy="3916356"/>
            <a:chOff x="6083600" y="6858000"/>
            <a:chExt cx="3644600" cy="3916356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B4C5389A-394F-2029-6AED-5D83657BA0CB}"/>
                </a:ext>
              </a:extLst>
            </p:cNvPr>
            <p:cNvSpPr txBox="1"/>
            <p:nvPr/>
          </p:nvSpPr>
          <p:spPr>
            <a:xfrm>
              <a:off x="6083601" y="8312143"/>
              <a:ext cx="3644599" cy="50292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>
                <a:spcBef>
                  <a:spcPts val="1000"/>
                </a:spcBef>
                <a:defRPr sz="2100" spc="0" baseline="476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ru-RU" sz="4200" b="1" dirty="0">
                  <a:latin typeface="Beeline Sans" panose="020B0500040202020204" pitchFamily="34" charset="0"/>
                </a:rPr>
                <a:t>Ручное назначение</a:t>
              </a:r>
            </a:p>
            <a:p>
              <a:pPr algn="l"/>
              <a:r>
                <a:rPr lang="ru-RU" sz="4200" dirty="0">
                  <a:latin typeface="Beeline Sans" panose="020B0500040202020204" pitchFamily="34" charset="0"/>
                </a:rPr>
                <a:t>Проверка навыков, смены и времени до передачи.</a:t>
              </a: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C05BED69-029E-C1D7-9F0F-C12C585D7B08}"/>
                </a:ext>
              </a:extLst>
            </p:cNvPr>
            <p:cNvSpPr txBox="1"/>
            <p:nvPr/>
          </p:nvSpPr>
          <p:spPr>
            <a:xfrm>
              <a:off x="6083600" y="6858000"/>
              <a:ext cx="2692771" cy="11079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90000"/>
                </a:lnSpc>
                <a:defRPr sz="5400" spc="-53">
                  <a:solidFill>
                    <a:srgbClr val="000000"/>
                  </a:solidFill>
                  <a:latin typeface="Beeline Sans Black"/>
                  <a:ea typeface="Beeline Sans Black"/>
                  <a:cs typeface="Beeline Sans Black"/>
                  <a:sym typeface="Beeline Sans Black"/>
                </a:defRPr>
              </a:pPr>
              <a:r>
                <a:rPr lang="ru-RU" sz="8000" dirty="0">
                  <a:solidFill>
                    <a:srgbClr val="141414"/>
                  </a:solidFill>
                </a:rPr>
                <a:t>#2 </a:t>
              </a:r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FDFD6E56-0ECD-8038-9E1D-D356E3C5C6CA}"/>
              </a:ext>
            </a:extLst>
          </p:cNvPr>
          <p:cNvGrpSpPr/>
          <p:nvPr/>
        </p:nvGrpSpPr>
        <p:grpSpPr>
          <a:xfrm>
            <a:off x="13178666" y="6858000"/>
            <a:ext cx="3644600" cy="3916356"/>
            <a:chOff x="12509800" y="6858000"/>
            <a:chExt cx="3644600" cy="3916356"/>
          </a:xfrm>
        </p:grpSpPr>
        <p:sp>
          <p:nvSpPr>
            <p:cNvPr id="12" name="TextBox 3">
              <a:extLst>
                <a:ext uri="{FF2B5EF4-FFF2-40B4-BE49-F238E27FC236}">
                  <a16:creationId xmlns:a16="http://schemas.microsoft.com/office/drawing/2014/main" id="{BD2CFCBC-72B6-F2B3-9A30-B960518833AB}"/>
                </a:ext>
              </a:extLst>
            </p:cNvPr>
            <p:cNvSpPr txBox="1"/>
            <p:nvPr/>
          </p:nvSpPr>
          <p:spPr>
            <a:xfrm>
              <a:off x="12509801" y="8312143"/>
              <a:ext cx="3644599" cy="50292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>
                <a:spcBef>
                  <a:spcPts val="1000"/>
                </a:spcBef>
                <a:defRPr sz="2100" spc="0" baseline="476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ru-RU" sz="4200" b="1" dirty="0">
                  <a:latin typeface="Beeline Sans" panose="020B0500040202020204" pitchFamily="34" charset="0"/>
                </a:rPr>
                <a:t>Инциденты</a:t>
              </a:r>
            </a:p>
            <a:p>
              <a:pPr algn="l"/>
              <a:r>
                <a:rPr lang="ru-RU" sz="4200" dirty="0">
                  <a:latin typeface="Beeline Sans" panose="020B0500040202020204" pitchFamily="34" charset="0"/>
                </a:rPr>
                <a:t>Отмена, поломка, авария: сразу новый план.</a:t>
              </a:r>
            </a:p>
          </p:txBody>
        </p:sp>
        <p:sp>
          <p:nvSpPr>
            <p:cNvPr id="13" name="TextBox 2">
              <a:extLst>
                <a:ext uri="{FF2B5EF4-FFF2-40B4-BE49-F238E27FC236}">
                  <a16:creationId xmlns:a16="http://schemas.microsoft.com/office/drawing/2014/main" id="{FC47B528-3D09-3B0D-B142-5A96E339AAAC}"/>
                </a:ext>
              </a:extLst>
            </p:cNvPr>
            <p:cNvSpPr txBox="1"/>
            <p:nvPr/>
          </p:nvSpPr>
          <p:spPr>
            <a:xfrm>
              <a:off x="12509800" y="6858000"/>
              <a:ext cx="2692771" cy="11079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90000"/>
                </a:lnSpc>
                <a:defRPr sz="5400" spc="-53">
                  <a:solidFill>
                    <a:srgbClr val="000000"/>
                  </a:solidFill>
                  <a:latin typeface="Beeline Sans Black"/>
                  <a:ea typeface="Beeline Sans Black"/>
                  <a:cs typeface="Beeline Sans Black"/>
                  <a:sym typeface="Beeline Sans Black"/>
                </a:defRPr>
              </a:pPr>
              <a:r>
                <a:rPr lang="ru-RU" sz="8000" dirty="0">
                  <a:solidFill>
                    <a:srgbClr val="141414"/>
                  </a:solidFill>
                </a:rPr>
                <a:t>#3 </a:t>
              </a: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5E430C1-4613-25AD-5186-B498D97237C6}"/>
              </a:ext>
            </a:extLst>
          </p:cNvPr>
          <p:cNvGrpSpPr/>
          <p:nvPr/>
        </p:nvGrpSpPr>
        <p:grpSpPr>
          <a:xfrm>
            <a:off x="19444000" y="6858000"/>
            <a:ext cx="3644600" cy="3305932"/>
            <a:chOff x="19444000" y="6858000"/>
            <a:chExt cx="3644600" cy="3305932"/>
          </a:xfrm>
        </p:grpSpPr>
        <p:sp>
          <p:nvSpPr>
            <p:cNvPr id="14" name="TextBox 3">
              <a:extLst>
                <a:ext uri="{FF2B5EF4-FFF2-40B4-BE49-F238E27FC236}">
                  <a16:creationId xmlns:a16="http://schemas.microsoft.com/office/drawing/2014/main" id="{87BCDAB1-230A-193B-FB62-06090C76A556}"/>
                </a:ext>
              </a:extLst>
            </p:cNvPr>
            <p:cNvSpPr txBox="1"/>
            <p:nvPr/>
          </p:nvSpPr>
          <p:spPr>
            <a:xfrm>
              <a:off x="19444001" y="8312143"/>
              <a:ext cx="3644599" cy="18517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>
                <a:spcBef>
                  <a:spcPts val="1000"/>
                </a:spcBef>
                <a:defRPr sz="2100" spc="0" baseline="476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ru-RU" sz="4200" b="1" dirty="0">
                  <a:latin typeface="Beeline Sans" panose="020B0500040202020204" pitchFamily="34" charset="0"/>
                </a:rPr>
                <a:t>Путевой лист</a:t>
              </a:r>
            </a:p>
            <a:p>
              <a:pPr algn="l"/>
              <a:r>
                <a:rPr lang="ru-RU" sz="4200" dirty="0">
                  <a:latin typeface="Beeline Sans" panose="020B0500040202020204" pitchFamily="34" charset="0"/>
                </a:rPr>
                <a:t>Печатный наряд инженера и </a:t>
              </a:r>
              <a:r>
                <a:rPr lang="ru-RU" sz="4200" dirty="0" err="1">
                  <a:latin typeface="Beeline Sans" panose="020B0500040202020204" pitchFamily="34" charset="0"/>
                </a:rPr>
                <a:t>xAI</a:t>
              </a:r>
              <a:r>
                <a:rPr lang="ru-RU" sz="4200" dirty="0">
                  <a:latin typeface="Beeline Sans" panose="020B0500040202020204" pitchFamily="34" charset="0"/>
                </a:rPr>
                <a:t>-объяснение.</a:t>
              </a:r>
            </a:p>
          </p:txBody>
        </p:sp>
        <p:sp>
          <p:nvSpPr>
            <p:cNvPr id="15" name="TextBox 2">
              <a:extLst>
                <a:ext uri="{FF2B5EF4-FFF2-40B4-BE49-F238E27FC236}">
                  <a16:creationId xmlns:a16="http://schemas.microsoft.com/office/drawing/2014/main" id="{FB381585-7393-4325-D3C3-25083F8F10D4}"/>
                </a:ext>
              </a:extLst>
            </p:cNvPr>
            <p:cNvSpPr txBox="1"/>
            <p:nvPr/>
          </p:nvSpPr>
          <p:spPr>
            <a:xfrm>
              <a:off x="19444000" y="6858000"/>
              <a:ext cx="2692771" cy="11079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90000"/>
                </a:lnSpc>
                <a:defRPr sz="5400" spc="-53">
                  <a:solidFill>
                    <a:srgbClr val="000000"/>
                  </a:solidFill>
                  <a:latin typeface="Beeline Sans Black"/>
                  <a:ea typeface="Beeline Sans Black"/>
                  <a:cs typeface="Beeline Sans Black"/>
                  <a:sym typeface="Beeline Sans Black"/>
                </a:defRPr>
              </a:pPr>
              <a:r>
                <a:rPr lang="ru-RU" sz="8000" dirty="0">
                  <a:solidFill>
                    <a:srgbClr val="141414"/>
                  </a:solidFill>
                </a:rPr>
                <a:t>#4</a:t>
              </a:r>
            </a:p>
          </p:txBody>
        </p:sp>
      </p:grp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85CE0718-4DB8-A8C3-DA87-125270AA52D6}"/>
              </a:ext>
            </a:extLst>
          </p:cNvPr>
          <p:cNvCxnSpPr>
            <a:cxnSpLocks/>
          </p:cNvCxnSpPr>
          <p:nvPr/>
        </p:nvCxnSpPr>
        <p:spPr>
          <a:xfrm flipV="1">
            <a:off x="6070600" y="6858000"/>
            <a:ext cx="0" cy="6294428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CF9D9441-71C0-76A4-4329-49E90B924654}"/>
              </a:ext>
            </a:extLst>
          </p:cNvPr>
          <p:cNvCxnSpPr>
            <a:cxnSpLocks/>
          </p:cNvCxnSpPr>
          <p:nvPr/>
        </p:nvCxnSpPr>
        <p:spPr>
          <a:xfrm flipV="1">
            <a:off x="12382500" y="6858000"/>
            <a:ext cx="0" cy="6294428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9519FCDC-FC5D-6F19-10A5-308CE9058409}"/>
              </a:ext>
            </a:extLst>
          </p:cNvPr>
          <p:cNvCxnSpPr>
            <a:cxnSpLocks/>
          </p:cNvCxnSpPr>
          <p:nvPr/>
        </p:nvCxnSpPr>
        <p:spPr>
          <a:xfrm flipV="1">
            <a:off x="18694400" y="6858000"/>
            <a:ext cx="0" cy="6294428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320470-BA1F-C1FE-38B2-5AE284143FFC}"/>
              </a:ext>
            </a:extLst>
          </p:cNvPr>
          <p:cNvSpPr/>
          <p:nvPr/>
        </p:nvSpPr>
        <p:spPr>
          <a:xfrm>
            <a:off x="607742" y="5513117"/>
            <a:ext cx="5109465" cy="660947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603CEDA0-DF0F-EBC5-F3F3-A953472BDE6C}"/>
              </a:ext>
            </a:extLst>
          </p:cNvPr>
          <p:cNvSpPr/>
          <p:nvPr/>
        </p:nvSpPr>
        <p:spPr>
          <a:xfrm>
            <a:off x="6703742" y="5513117"/>
            <a:ext cx="5109465" cy="660947"/>
          </a:xfrm>
          <a:prstGeom prst="rect">
            <a:avLst/>
          </a:prstGeom>
          <a:solidFill>
            <a:schemeClr val="tx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5024E8E-92E8-D258-1AD6-D7FE597CD52B}"/>
              </a:ext>
            </a:extLst>
          </p:cNvPr>
          <p:cNvSpPr/>
          <p:nvPr/>
        </p:nvSpPr>
        <p:spPr>
          <a:xfrm>
            <a:off x="12799742" y="5513117"/>
            <a:ext cx="5109465" cy="660947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F00EB7D-BC27-6AAB-99BC-490DA137BAFD}"/>
              </a:ext>
            </a:extLst>
          </p:cNvPr>
          <p:cNvSpPr/>
          <p:nvPr/>
        </p:nvSpPr>
        <p:spPr>
          <a:xfrm>
            <a:off x="18895742" y="5513117"/>
            <a:ext cx="5109465" cy="660947"/>
          </a:xfrm>
          <a:prstGeom prst="rect">
            <a:avLst/>
          </a:prstGeom>
          <a:solidFill>
            <a:schemeClr val="tx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7541391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33F25-8C66-87E1-E7AD-B7F2B35E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5DFB5C3F-2FEC-AEE4-D10D-6ED60EA205DF}"/>
              </a:ext>
            </a:extLst>
          </p:cNvPr>
          <p:cNvSpPr txBox="1"/>
          <p:nvPr/>
        </p:nvSpPr>
        <p:spPr>
          <a:xfrm>
            <a:off x="607742" y="2256816"/>
            <a:ext cx="16673285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10000" dirty="0"/>
              <a:t>Результаты синтетические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F052A8-277A-6103-0CED-D07B0CE0AE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30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0CF2C1C2-E468-E27E-ABE8-8E58C1D0CC5C}"/>
              </a:ext>
            </a:extLst>
          </p:cNvPr>
          <p:cNvSpPr txBox="1"/>
          <p:nvPr/>
        </p:nvSpPr>
        <p:spPr>
          <a:xfrm>
            <a:off x="607742" y="3623755"/>
            <a:ext cx="16673285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5600" b="0" dirty="0"/>
              <a:t>округа Восток, Югоцентр, Юго-восток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FB264A-B304-CFB3-15F0-EB3EF1AE8F6C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ru-RU" sz="1200" dirty="0"/>
              <a:t>билайн бизнес · ЛЦТ 2026 · Задача №3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A342F12-58D4-DFE6-F50E-A5B75AE358F4}"/>
              </a:ext>
            </a:extLst>
          </p:cNvPr>
          <p:cNvSpPr/>
          <p:nvPr/>
        </p:nvSpPr>
        <p:spPr>
          <a:xfrm>
            <a:off x="0" y="5945494"/>
            <a:ext cx="9719544" cy="1825012"/>
          </a:xfrm>
          <a:prstGeom prst="rect">
            <a:avLst/>
          </a:prstGeom>
          <a:solidFill>
            <a:srgbClr val="FFC800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E5E855F-B907-4FA3-F677-607D50D6A294}"/>
              </a:ext>
            </a:extLst>
          </p:cNvPr>
          <p:cNvSpPr/>
          <p:nvPr/>
        </p:nvSpPr>
        <p:spPr>
          <a:xfrm>
            <a:off x="9719544" y="5945494"/>
            <a:ext cx="14664456" cy="1825012"/>
          </a:xfrm>
          <a:prstGeom prst="rect">
            <a:avLst/>
          </a:prstGeom>
          <a:solidFill>
            <a:srgbClr val="141414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2FDE401B-AFCF-2564-1DB2-3B849D40CBC5}"/>
              </a:ext>
            </a:extLst>
          </p:cNvPr>
          <p:cNvSpPr txBox="1"/>
          <p:nvPr/>
        </p:nvSpPr>
        <p:spPr>
          <a:xfrm>
            <a:off x="648000" y="6201015"/>
            <a:ext cx="3825299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defRPr sz="10000">
                <a:solidFill>
                  <a:srgbClr val="FFDF4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pPr algn="l"/>
            <a:r>
              <a:rPr lang="ru-RU" sz="6400" dirty="0">
                <a:solidFill>
                  <a:schemeClr val="tx1"/>
                </a:solidFill>
              </a:rPr>
              <a:t>−26%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7E1990B7-59CF-2F02-D311-206FEDA08A02}"/>
              </a:ext>
            </a:extLst>
          </p:cNvPr>
          <p:cNvSpPr txBox="1"/>
          <p:nvPr/>
        </p:nvSpPr>
        <p:spPr>
          <a:xfrm>
            <a:off x="10178587" y="6201015"/>
            <a:ext cx="3825299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defRPr sz="10000">
                <a:solidFill>
                  <a:srgbClr val="FFDF4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pPr algn="l"/>
            <a:r>
              <a:rPr lang="ru-RU" sz="6400" dirty="0">
                <a:solidFill>
                  <a:schemeClr val="bg1"/>
                </a:solidFill>
              </a:rPr>
              <a:t>−40%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EF6DFB30-3AE2-FA5A-0365-A4B400E8B830}"/>
              </a:ext>
            </a:extLst>
          </p:cNvPr>
          <p:cNvSpPr txBox="1"/>
          <p:nvPr/>
        </p:nvSpPr>
        <p:spPr>
          <a:xfrm>
            <a:off x="648002" y="8778240"/>
            <a:ext cx="8686800" cy="574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5600" dirty="0">
                <a:latin typeface="Beeline Sans" panose="020B0500040202020204" pitchFamily="34" charset="0"/>
              </a:rPr>
              <a:t>205 из 205 заявок выполнено (FIFO: 147)</a:t>
            </a:r>
          </a:p>
        </p:txBody>
      </p:sp>
      <p:sp>
        <p:nvSpPr>
          <p:cNvPr id="2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EF282EED-7A6F-8A6E-1D37-C2F64C6CEBFA}"/>
              </a:ext>
            </a:extLst>
          </p:cNvPr>
          <p:cNvSpPr txBox="1"/>
          <p:nvPr/>
        </p:nvSpPr>
        <p:spPr>
          <a:xfrm>
            <a:off x="3661943" y="6277215"/>
            <a:ext cx="2719658" cy="51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2800" b="0" dirty="0"/>
              <a:t>бригад</a:t>
            </a:r>
          </a:p>
          <a:p>
            <a:r>
              <a:rPr lang="ru-RU" sz="2800" b="0" dirty="0"/>
              <a:t>43 → 32</a:t>
            </a:r>
          </a:p>
        </p:txBody>
      </p:sp>
      <p:sp>
        <p:nvSpPr>
          <p:cNvPr id="25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87931AD6-F98F-2B90-574D-AFD4D50F2911}"/>
              </a:ext>
            </a:extLst>
          </p:cNvPr>
          <p:cNvSpPr txBox="1"/>
          <p:nvPr/>
        </p:nvSpPr>
        <p:spPr>
          <a:xfrm>
            <a:off x="12947605" y="6277215"/>
            <a:ext cx="2719658" cy="51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2800" b="0" dirty="0">
                <a:solidFill>
                  <a:schemeClr val="bg1"/>
                </a:solidFill>
              </a:rPr>
              <a:t>км на заявку</a:t>
            </a:r>
          </a:p>
          <a:p>
            <a:r>
              <a:rPr lang="ru-RU" sz="2800" b="0" dirty="0">
                <a:solidFill>
                  <a:schemeClr val="bg1"/>
                </a:solidFill>
              </a:rPr>
              <a:t>7.51 → 4.53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446578"/>
              </p:ext>
            </p:extLst>
          </p:nvPr>
        </p:nvGraphicFramePr>
        <p:xfrm>
          <a:off x="10241280" y="7955279"/>
          <a:ext cx="13716000" cy="5669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1413286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E2A1E23-05D0-CFE1-550C-A001333D2A15}"/>
              </a:ext>
            </a:extLst>
          </p:cNvPr>
          <p:cNvSpPr/>
          <p:nvPr/>
        </p:nvSpPr>
        <p:spPr>
          <a:xfrm>
            <a:off x="0" y="0"/>
            <a:ext cx="24384001" cy="13384508"/>
          </a:xfrm>
          <a:prstGeom prst="rect">
            <a:avLst/>
          </a:prstGeom>
          <a:solidFill>
            <a:srgbClr val="FFC800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ED4FB78-E411-5662-74E5-FB45B735B439}"/>
              </a:ext>
            </a:extLst>
          </p:cNvPr>
          <p:cNvSpPr/>
          <p:nvPr/>
        </p:nvSpPr>
        <p:spPr>
          <a:xfrm>
            <a:off x="-1" y="331495"/>
            <a:ext cx="24384001" cy="13384508"/>
          </a:xfrm>
          <a:prstGeom prst="rect">
            <a:avLst/>
          </a:prstGeom>
          <a:solidFill>
            <a:srgbClr val="FFC800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F6B57A8-439D-4ED1-B5E5-840DEDD50EE1}"/>
              </a:ext>
            </a:extLst>
          </p:cNvPr>
          <p:cNvSpPr/>
          <p:nvPr/>
        </p:nvSpPr>
        <p:spPr>
          <a:xfrm>
            <a:off x="-1" y="673492"/>
            <a:ext cx="24384003" cy="6795503"/>
          </a:xfrm>
          <a:prstGeom prst="rect">
            <a:avLst/>
          </a:prstGeom>
          <a:solidFill>
            <a:srgbClr val="141414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FA5C7E3-F784-EF5F-495D-93B1B1D17F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-3" y="7468995"/>
            <a:ext cx="24384007" cy="113246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7891828-9E8B-921F-8905-1B2A39CCC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6" y="603525"/>
            <a:ext cx="24383995" cy="1924260"/>
          </a:xfrm>
          <a:prstGeom prst="rect">
            <a:avLst/>
          </a:prstGeom>
        </p:spPr>
      </p:pic>
      <p:sp>
        <p:nvSpPr>
          <p:cNvPr id="188" name="TextBox 1">
            <a:extLst>
              <a:ext uri="{FF2B5EF4-FFF2-40B4-BE49-F238E27FC236}">
                <a16:creationId xmlns:a16="http://schemas.microsoft.com/office/drawing/2014/main" id="{B59994AA-5D4D-56DE-769C-65E72ACACA79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билайн бизнес · ЛЦТ 2026 · Задача №3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D17B4C6-00A2-FEB2-98F0-98536D29691A}"/>
              </a:ext>
            </a:extLst>
          </p:cNvPr>
          <p:cNvSpPr txBox="1"/>
          <p:nvPr/>
        </p:nvSpPr>
        <p:spPr>
          <a:xfrm>
            <a:off x="4667401" y="2904528"/>
            <a:ext cx="15049198" cy="976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r>
              <a:rPr lang="ru-RU" sz="4759" dirty="0">
                <a:solidFill>
                  <a:schemeClr val="bg1"/>
                </a:solidFill>
                <a:latin typeface="Beeline Sans" panose="020B0500040202020204" pitchFamily="34" charset="0"/>
              </a:rPr>
              <a:t>Модель уменьшила суммарный пробег за день с 1014.9 → 501.4 км, что даёт уменьшение с 5.58 → 2.73 км на заявку.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058A8E38-3BA4-CBA7-063B-CABF19698E52}"/>
              </a:ext>
            </a:extLst>
          </p:cNvPr>
          <p:cNvSpPr txBox="1"/>
          <p:nvPr/>
        </p:nvSpPr>
        <p:spPr>
          <a:xfrm>
            <a:off x="3043137" y="1671451"/>
            <a:ext cx="18297726" cy="91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8400" dirty="0">
                <a:solidFill>
                  <a:schemeClr val="bg1"/>
                </a:solidFill>
              </a:rPr>
              <a:t>-51% пробега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D3199D-4B50-B349-C8C7-55B2F78E8D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676306C0-C282-6076-8D70-A3166C9646B5}"/>
              </a:ext>
            </a:extLst>
          </p:cNvPr>
          <p:cNvSpPr txBox="1"/>
          <p:nvPr/>
        </p:nvSpPr>
        <p:spPr>
          <a:xfrm>
            <a:off x="4667401" y="10470564"/>
            <a:ext cx="15049198" cy="1464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r>
              <a:rPr lang="ru-RU" sz="4759" dirty="0">
                <a:solidFill>
                  <a:schemeClr val="tx1"/>
                </a:solidFill>
                <a:latin typeface="Beeline Sans" panose="020B0500040202020204" pitchFamily="34" charset="0"/>
              </a:rPr>
              <a:t>Модель смогла выполнить все заявки (205 из 205). Базовый алгоритм бросил несколько клиентов без связи. Мы предотвратили отток и защитили выручку компании.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315BAC0E-C77A-E6C8-1463-F588E4AADFC1}"/>
              </a:ext>
            </a:extLst>
          </p:cNvPr>
          <p:cNvSpPr txBox="1"/>
          <p:nvPr/>
        </p:nvSpPr>
        <p:spPr>
          <a:xfrm>
            <a:off x="3043137" y="9237487"/>
            <a:ext cx="18297726" cy="91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8400" dirty="0">
                <a:solidFill>
                  <a:schemeClr val="tx1"/>
                </a:solidFill>
              </a:rPr>
              <a:t>100% выполнение заявок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FCAEB564-1053-DE0A-2FBB-CC89175E6838}"/>
              </a:ext>
            </a:extLst>
          </p:cNvPr>
          <p:cNvSpPr txBox="1"/>
          <p:nvPr/>
        </p:nvSpPr>
        <p:spPr>
          <a:xfrm>
            <a:off x="4819801" y="6346030"/>
            <a:ext cx="15049198" cy="976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r>
              <a:rPr lang="ru-RU" sz="4759" dirty="0">
                <a:solidFill>
                  <a:schemeClr val="bg1"/>
                </a:solidFill>
                <a:latin typeface="Beeline Sans" panose="020B0500040202020204" pitchFamily="34" charset="0"/>
              </a:rPr>
              <a:t>Модель уменьшила количество бригад с 35 → 27 (−23%), а в лучшем случае сократила 11 → 7 бригад.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813DF119-7CA4-86E1-4174-12D9D07FAE84}"/>
              </a:ext>
            </a:extLst>
          </p:cNvPr>
          <p:cNvSpPr txBox="1"/>
          <p:nvPr/>
        </p:nvSpPr>
        <p:spPr>
          <a:xfrm>
            <a:off x="3195537" y="5112953"/>
            <a:ext cx="18297726" cy="914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8400" dirty="0">
                <a:solidFill>
                  <a:schemeClr val="bg1"/>
                </a:solidFill>
              </a:rPr>
              <a:t>До −36% штата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1C3E2-C3EF-8F5F-752A-EB98B6123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4FB53A0-60DC-F236-7EFF-8DA1D5F0B0EB}"/>
              </a:ext>
            </a:extLst>
          </p:cNvPr>
          <p:cNvSpPr/>
          <p:nvPr/>
        </p:nvSpPr>
        <p:spPr>
          <a:xfrm>
            <a:off x="11932244" y="0"/>
            <a:ext cx="12451755" cy="13716000"/>
          </a:xfrm>
          <a:prstGeom prst="rect">
            <a:avLst/>
          </a:prstGeom>
          <a:solidFill>
            <a:srgbClr val="FFC800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188" name="TextBox 1">
            <a:extLst>
              <a:ext uri="{FF2B5EF4-FFF2-40B4-BE49-F238E27FC236}">
                <a16:creationId xmlns:a16="http://schemas.microsoft.com/office/drawing/2014/main" id="{41B07CE8-8604-D4D6-8A52-E508C753435C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ru-RU" sz="1200" dirty="0"/>
              <a:t>билайн бизнес · ЛЦТ 2026 · Задача №3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1081018B-0CDB-AEAF-4E9E-62632BD8D07B}"/>
              </a:ext>
            </a:extLst>
          </p:cNvPr>
          <p:cNvSpPr txBox="1"/>
          <p:nvPr/>
        </p:nvSpPr>
        <p:spPr>
          <a:xfrm>
            <a:off x="648002" y="4837940"/>
            <a:ext cx="9638998" cy="1809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5880" dirty="0">
                <a:latin typeface="Beeline Sans" panose="020B0500040202020204" pitchFamily="34" charset="0"/>
              </a:rPr>
              <a:t>Решение можно интегрировать в округа Восток, Югоцентр, Юго-восток: до −36% бригад и −68% км на заявку.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1612E954-C8F1-4B70-0874-8E997E44F051}"/>
              </a:ext>
            </a:extLst>
          </p:cNvPr>
          <p:cNvSpPr txBox="1"/>
          <p:nvPr/>
        </p:nvSpPr>
        <p:spPr>
          <a:xfrm>
            <a:off x="648000" y="2881452"/>
            <a:ext cx="9156400" cy="762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7000" dirty="0">
                <a:solidFill>
                  <a:srgbClr val="141414"/>
                </a:solidFill>
              </a:rPr>
              <a:t>В дальнейшем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6C15D1A9-CF29-F9F5-77E0-997DE241EFFC}"/>
              </a:ext>
            </a:extLst>
          </p:cNvPr>
          <p:cNvSpPr txBox="1"/>
          <p:nvPr/>
        </p:nvSpPr>
        <p:spPr>
          <a:xfrm>
            <a:off x="13703602" y="2063023"/>
            <a:ext cx="9638998" cy="4479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ru-RU" sz="5880" dirty="0">
                <a:latin typeface="Beeline Sans" panose="020B0500040202020204" pitchFamily="34" charset="0"/>
              </a:rPr>
              <a:t>Масштабирование на другие округа и типы бригад.</a:t>
            </a:r>
          </a:p>
          <a:p>
            <a:pPr algn="l"/>
            <a:r>
              <a:rPr lang="ru-RU" sz="5880" dirty="0">
                <a:latin typeface="Beeline Sans" panose="020B0500040202020204" pitchFamily="34" charset="0"/>
              </a:rPr>
              <a:t>Интеграция с системой приёма заявок в автономном режиме.</a:t>
            </a:r>
          </a:p>
          <a:p>
            <a:pPr algn="l">
              <a:defRPr sz="5880">
                <a:latin typeface="Beeline Sans"/>
              </a:defRPr>
            </a:pPr>
            <a:r>
              <a:rPr dirty="0" err="1"/>
              <a:t>Мобильное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инженера</a:t>
            </a:r>
            <a:r>
              <a:rPr dirty="0"/>
              <a:t> (</a:t>
            </a:r>
            <a:r>
              <a:rPr dirty="0" err="1"/>
              <a:t>электронный</a:t>
            </a:r>
            <a:r>
              <a:rPr dirty="0"/>
              <a:t> </a:t>
            </a:r>
            <a:r>
              <a:rPr dirty="0" err="1"/>
              <a:t>путевой</a:t>
            </a:r>
            <a:r>
              <a:rPr dirty="0"/>
              <a:t> </a:t>
            </a:r>
            <a:r>
              <a:rPr dirty="0" err="1"/>
              <a:t>лист</a:t>
            </a:r>
            <a:r>
              <a:rPr dirty="0"/>
              <a:t> и </a:t>
            </a:r>
            <a:r>
              <a:rPr dirty="0" err="1"/>
              <a:t>чек-лист</a:t>
            </a:r>
            <a:r>
              <a:rPr dirty="0"/>
              <a:t> </a:t>
            </a:r>
            <a:r>
              <a:rPr dirty="0" err="1"/>
              <a:t>оборудования</a:t>
            </a:r>
            <a:r>
              <a:rPr dirty="0"/>
              <a:t>).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ECE6291F-D621-D4F7-8E7E-F3F54C528129}"/>
              </a:ext>
            </a:extLst>
          </p:cNvPr>
          <p:cNvSpPr txBox="1"/>
          <p:nvPr/>
        </p:nvSpPr>
        <p:spPr>
          <a:xfrm>
            <a:off x="10680399" y="6811839"/>
            <a:ext cx="8973726" cy="876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75000"/>
              </a:lnSpc>
              <a:defRPr sz="19900" spc="-150">
                <a:solidFill>
                  <a:srgbClr val="FFDF4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pPr algn="l"/>
            <a:r>
              <a:rPr sz="75000" dirty="0">
                <a:solidFill>
                  <a:srgbClr val="141414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2425797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82E5F-EFEE-AEE4-17E3-040431FC9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спасибо">
            <a:extLst>
              <a:ext uri="{FF2B5EF4-FFF2-40B4-BE49-F238E27FC236}">
                <a16:creationId xmlns:a16="http://schemas.microsoft.com/office/drawing/2014/main" id="{956FE607-2AAF-233D-56EB-85446070CA4B}"/>
              </a:ext>
            </a:extLst>
          </p:cNvPr>
          <p:cNvSpPr txBox="1"/>
          <p:nvPr/>
        </p:nvSpPr>
        <p:spPr>
          <a:xfrm>
            <a:off x="807330" y="9998690"/>
            <a:ext cx="21578977" cy="302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21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спасибо</a:t>
            </a:r>
          </a:p>
        </p:txBody>
      </p:sp>
      <p:pic>
        <p:nvPicPr>
          <p:cNvPr id="603" name="Изображение" descr="Изображение">
            <a:extLst>
              <a:ext uri="{FF2B5EF4-FFF2-40B4-BE49-F238E27FC236}">
                <a16:creationId xmlns:a16="http://schemas.microsoft.com/office/drawing/2014/main" id="{B60C4DF0-D2EC-FCAA-6E47-DB9D6B777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30" y="971501"/>
            <a:ext cx="4779520" cy="89985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157631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2" y="7789027"/>
            <a:ext cx="14241777" cy="3413486"/>
          </a:xfrm>
        </p:spPr>
        <p:txBody>
          <a:bodyPr/>
          <a:lstStyle/>
          <a:p>
            <a:pPr marL="536576" indent="0">
              <a:defRPr/>
            </a:pPr>
            <a:r>
              <a:rPr lang="ru-RU" sz="9600" dirty="0">
                <a:latin typeface="Montserrat" pitchFamily="2" charset="77"/>
              </a:rPr>
              <a:t>67 индусов под капотом</a:t>
            </a:r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11319002"/>
            <a:ext cx="18310859" cy="1514348"/>
          </a:xfrm>
        </p:spPr>
        <p:txBody>
          <a:bodyPr numCol="1" anchor="ctr"/>
          <a:lstStyle/>
          <a:p>
            <a:pPr indent="536576">
              <a:lnSpc>
                <a:spcPct val="100000"/>
              </a:lnSpc>
              <a:spcAft>
                <a:spcPts val="4500"/>
              </a:spcAft>
              <a:defRPr/>
            </a:pPr>
            <a:r>
              <a:rPr lang="ru-RU" dirty="0">
                <a:solidFill>
                  <a:srgbClr val="FFFFFF"/>
                </a:solidFill>
                <a:latin typeface="Montserrat" pitchFamily="2" charset="77"/>
              </a:rPr>
              <a:t>Задача №3 Интеллектуальная</a:t>
            </a:r>
            <a:r>
              <a:rPr lang="en-US" dirty="0">
                <a:solidFill>
                  <a:srgbClr val="FFFFFF"/>
                </a:solidFill>
                <a:latin typeface="Montserrat" pitchFamily="2" charset="77"/>
              </a:rPr>
              <a:t> </a:t>
            </a:r>
            <a:r>
              <a:rPr lang="ru-RU" dirty="0">
                <a:solidFill>
                  <a:srgbClr val="FFFFFF"/>
                </a:solidFill>
                <a:latin typeface="Montserrat" pitchFamily="2" charset="77"/>
              </a:rPr>
              <a:t>маршрутизация выездных инженеров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1" y="5943600"/>
            <a:ext cx="12912726" cy="77724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defTabSz="1828440" hangingPunct="1">
              <a:defRPr/>
            </a:pPr>
            <a:endParaRPr lang="ru-RU" sz="3600">
              <a:solidFill>
                <a:srgbClr val="FFFFFF"/>
              </a:solidFill>
              <a:latin typeface="Montserrat"/>
              <a:cs typeface="Arial"/>
            </a:endParaRPr>
          </a:p>
        </p:txBody>
      </p:sp>
      <p:sp>
        <p:nvSpPr>
          <p:cNvPr id="1143600250" name="Текст 8"/>
          <p:cNvSpPr txBox="1"/>
          <p:nvPr/>
        </p:nvSpPr>
        <p:spPr bwMode="auto">
          <a:xfrm>
            <a:off x="13639808" y="4606237"/>
            <a:ext cx="9891128" cy="1337334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57510" hangingPunct="1">
              <a:lnSpc>
                <a:spcPct val="100000"/>
              </a:lnSpc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3200" b="1">
                <a:solidFill>
                  <a:srgbClr val="520977"/>
                </a:solidFill>
                <a:latin typeface="Montserrat"/>
                <a:cs typeface="Arial"/>
              </a:rPr>
              <a:t>Краткое описание решения:</a:t>
            </a:r>
            <a:endParaRPr sz="2800">
              <a:solidFill>
                <a:srgbClr val="FFFFFF">
                  <a:lumMod val="95000"/>
                </a:srgbClr>
              </a:solidFill>
              <a:latin typeface="Montserrat"/>
              <a:cs typeface="Arial"/>
            </a:endParaRPr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13673213" y="9752141"/>
            <a:ext cx="9891130" cy="1780078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57510" hangingPunct="1">
              <a:lnSpc>
                <a:spcPct val="100000"/>
              </a:lnSpc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2400" dirty="0">
                <a:solidFill>
                  <a:srgbClr val="000000"/>
                </a:solidFill>
                <a:latin typeface="Montserrat"/>
                <a:cs typeface="Arial"/>
              </a:rPr>
              <a:t>Связка </a:t>
            </a:r>
            <a:r>
              <a:rPr lang="en-US" sz="2400" dirty="0">
                <a:solidFill>
                  <a:srgbClr val="000000"/>
                </a:solidFill>
                <a:latin typeface="Montserrat"/>
                <a:cs typeface="Arial"/>
              </a:rPr>
              <a:t>OR-tools + </a:t>
            </a:r>
            <a:r>
              <a:rPr lang="ru-RU" sz="2400" dirty="0">
                <a:solidFill>
                  <a:srgbClr val="000000"/>
                </a:solidFill>
                <a:latin typeface="Montserrat"/>
                <a:cs typeface="Arial"/>
              </a:rPr>
              <a:t>жадный алгоритм для тёплого старта + дополнительная независимая валидация</a:t>
            </a: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669924" y="7766019"/>
            <a:ext cx="11259716" cy="4798066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9376" indent="-289376" defTabSz="1157510" hangingPunct="1">
              <a:lnSpc>
                <a:spcPct val="120000"/>
              </a:lnSpc>
              <a:spcBef>
                <a:spcPts val="0"/>
              </a:spcBef>
              <a:buClr>
                <a:srgbClr val="FF0053"/>
              </a:buClr>
              <a:defRPr/>
            </a:pPr>
            <a:r>
              <a:rPr lang="ru-RU" sz="2800" b="1" dirty="0">
                <a:solidFill>
                  <a:srgbClr val="000000"/>
                </a:solidFill>
                <a:latin typeface="Montserrat"/>
                <a:cs typeface="Arial"/>
              </a:rPr>
              <a:t>Капитан: </a:t>
            </a:r>
            <a:r>
              <a:rPr lang="ru-RU" sz="2800" dirty="0">
                <a:solidFill>
                  <a:srgbClr val="000000"/>
                </a:solidFill>
                <a:latin typeface="Montserrat"/>
                <a:cs typeface="Arial"/>
              </a:rPr>
              <a:t>Пронькин Алексей Андреевич</a:t>
            </a:r>
          </a:p>
          <a:p>
            <a:pPr marL="289376" indent="-289376" defTabSz="1157510" hangingPunct="1">
              <a:lnSpc>
                <a:spcPct val="120000"/>
              </a:lnSpc>
              <a:spcBef>
                <a:spcPts val="0"/>
              </a:spcBef>
              <a:buClr>
                <a:srgbClr val="FF0053"/>
              </a:buClr>
              <a:defRPr/>
            </a:pPr>
            <a:r>
              <a:rPr lang="ru-RU" sz="2800" b="1" dirty="0">
                <a:solidFill>
                  <a:srgbClr val="000000"/>
                </a:solidFill>
                <a:latin typeface="Montserrat"/>
                <a:cs typeface="Arial"/>
              </a:rPr>
              <a:t>Кол-во участников: </a:t>
            </a:r>
            <a:r>
              <a:rPr lang="en-US" sz="2800" dirty="0">
                <a:solidFill>
                  <a:srgbClr val="000000"/>
                </a:solidFill>
                <a:latin typeface="Montserrat"/>
                <a:cs typeface="Arial"/>
              </a:rPr>
              <a:t>3 </a:t>
            </a:r>
            <a:r>
              <a:rPr lang="ru-RU" sz="2800" dirty="0">
                <a:solidFill>
                  <a:srgbClr val="000000"/>
                </a:solidFill>
                <a:latin typeface="Montserrat"/>
                <a:cs typeface="Arial"/>
              </a:rPr>
              <a:t>человека</a:t>
            </a:r>
          </a:p>
          <a:p>
            <a:pPr marL="289376" indent="-289376" defTabSz="1157510" hangingPunct="1">
              <a:lnSpc>
                <a:spcPct val="120000"/>
              </a:lnSpc>
              <a:spcBef>
                <a:spcPts val="0"/>
              </a:spcBef>
              <a:buClr>
                <a:srgbClr val="FF0053"/>
              </a:buClr>
              <a:defRPr/>
            </a:pPr>
            <a:r>
              <a:rPr lang="ru-RU" sz="2800" b="1" dirty="0">
                <a:solidFill>
                  <a:srgbClr val="000000"/>
                </a:solidFill>
                <a:latin typeface="Montserrat"/>
                <a:cs typeface="Arial"/>
              </a:rPr>
              <a:t>О команде: </a:t>
            </a:r>
            <a:r>
              <a:rPr lang="ru-RU" sz="2800" dirty="0">
                <a:solidFill>
                  <a:srgbClr val="000000"/>
                </a:solidFill>
                <a:latin typeface="Montserrat"/>
                <a:cs typeface="Arial"/>
              </a:rPr>
              <a:t>Наша команда образовалась в ходе совместной работы в рамках курса «Проектная деятельность». В данный момент все участники проекта являются студентами 3-го курса ММФ НГУ</a:t>
            </a:r>
          </a:p>
          <a:p>
            <a:pPr marL="289376" indent="-289376" defTabSz="1157510" hangingPunct="1">
              <a:lnSpc>
                <a:spcPct val="120000"/>
              </a:lnSpc>
              <a:spcBef>
                <a:spcPts val="0"/>
              </a:spcBef>
              <a:buClr>
                <a:srgbClr val="FF0053"/>
              </a:buClr>
              <a:defRPr/>
            </a:pPr>
            <a:r>
              <a:rPr lang="ru-RU" sz="2800" b="1" dirty="0">
                <a:solidFill>
                  <a:srgbClr val="000000"/>
                </a:solidFill>
                <a:latin typeface="Montserrat"/>
                <a:cs typeface="Arial"/>
              </a:rPr>
              <a:t>Город и регион: </a:t>
            </a:r>
            <a:r>
              <a:rPr lang="ru-RU" sz="2800" dirty="0">
                <a:solidFill>
                  <a:srgbClr val="000000"/>
                </a:solidFill>
                <a:latin typeface="Montserrat"/>
                <a:cs typeface="Arial"/>
              </a:rPr>
              <a:t>Новосибирск, Новосибирская область</a:t>
            </a:r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669925" y="6969571"/>
            <a:ext cx="5980346" cy="707870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57510" hangingPunct="1">
              <a:lnSpc>
                <a:spcPct val="100000"/>
              </a:lnSpc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3200" b="1" dirty="0">
                <a:solidFill>
                  <a:srgbClr val="520977"/>
                </a:solidFill>
                <a:latin typeface="Montserrat"/>
                <a:cs typeface="Arial"/>
              </a:rPr>
              <a:t>О команде</a:t>
            </a:r>
            <a:endParaRPr sz="2800" dirty="0">
              <a:solidFill>
                <a:srgbClr val="FFFFFF">
                  <a:lumMod val="95000"/>
                </a:srgbClr>
              </a:solidFill>
              <a:latin typeface="Montserrat"/>
              <a:cs typeface="Arial"/>
            </a:endParaRPr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13639807" y="2078472"/>
            <a:ext cx="7273406" cy="203025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rgbClr val="520978"/>
                </a:solidFill>
              </a:rPr>
              <a:t>О НАШЕМ РЕШЕНИИ</a:t>
            </a: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13761548" y="4480062"/>
            <a:ext cx="9769648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13794694" y="8875758"/>
            <a:ext cx="9769648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791667" y="6897278"/>
            <a:ext cx="11400334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13639808" y="9083475"/>
            <a:ext cx="9891128" cy="1337334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57510" hangingPunct="1">
              <a:lnSpc>
                <a:spcPct val="100000"/>
              </a:lnSpc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3200" b="1">
                <a:solidFill>
                  <a:srgbClr val="520977"/>
                </a:solidFill>
                <a:latin typeface="Montserrat"/>
                <a:cs typeface="Arial"/>
              </a:rPr>
              <a:t>Уникальность решения:</a:t>
            </a:r>
            <a:endParaRPr sz="2800">
              <a:solidFill>
                <a:srgbClr val="FFFFFF">
                  <a:lumMod val="95000"/>
                </a:srgbClr>
              </a:solidFill>
              <a:latin typeface="Montserrat"/>
              <a:cs typeface="Arial"/>
            </a:endParaRPr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13616055" y="5239807"/>
            <a:ext cx="9891130" cy="1780078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57510" hangingPunct="1">
              <a:lnSpc>
                <a:spcPct val="100000"/>
              </a:lnSpc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2400" dirty="0">
                <a:solidFill>
                  <a:srgbClr val="000000"/>
                </a:solidFill>
                <a:latin typeface="Montserrat"/>
                <a:cs typeface="Arial"/>
              </a:rPr>
              <a:t>Веб-сервис распределяет заявки между инженерами и строит маршруты, </a:t>
            </a:r>
            <a:r>
              <a:rPr lang="ru-RU" sz="2400" dirty="0" err="1">
                <a:solidFill>
                  <a:srgbClr val="000000"/>
                </a:solidFill>
                <a:latin typeface="Montserrat"/>
                <a:cs typeface="Arial"/>
              </a:rPr>
              <a:t>приоритизируя</a:t>
            </a:r>
            <a:r>
              <a:rPr lang="ru-RU" sz="2400" dirty="0">
                <a:solidFill>
                  <a:srgbClr val="000000"/>
                </a:solidFill>
                <a:latin typeface="Montserrat"/>
                <a:cs typeface="Arial"/>
              </a:rPr>
              <a:t> метрики следующим образом: все заявки выполнены, бригад меньше, пробег короче.</a:t>
            </a:r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22827015" y="12712715"/>
            <a:ext cx="1118238" cy="730250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828440" hangingPunct="1">
              <a:defRPr/>
            </a:pPr>
            <a:fld id="{52DCC5B9-D646-4B76-891F-6FF4E74E9CB4}" type="slidenum">
              <a:rPr lang="ru-RU" sz="2400">
                <a:solidFill>
                  <a:srgbClr val="520977"/>
                </a:solidFill>
                <a:latin typeface="Montserrat"/>
                <a:cs typeface="Arial"/>
              </a:rPr>
              <a:pPr algn="ctr" defTabSz="1828440" hangingPunct="1">
                <a:defRPr/>
              </a:pPr>
              <a:t>16</a:t>
            </a:fld>
            <a:endParaRPr lang="ru-RU" sz="2400">
              <a:solidFill>
                <a:srgbClr val="520977"/>
              </a:solidFill>
              <a:latin typeface="Montserrat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52FBEA-D362-172B-D357-DC4D3E01D3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106" t="30519" r="-1263"/>
          <a:stretch>
            <a:fillRect/>
          </a:stretch>
        </p:blipFill>
        <p:spPr>
          <a:xfrm>
            <a:off x="827485" y="69481"/>
            <a:ext cx="11374630" cy="581558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5302789" y="3044013"/>
            <a:ext cx="4385426" cy="966870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defTabSz="1828440" hangingPunct="1">
              <a:defRPr/>
            </a:pPr>
            <a:endParaRPr lang="ru-RU" sz="3600" b="1">
              <a:solidFill>
                <a:srgbClr val="FFD6E3"/>
              </a:solidFill>
              <a:latin typeface="Montserrat"/>
              <a:cs typeface="Arial"/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5647356" y="8500056"/>
            <a:ext cx="3788708" cy="3249224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9376" indent="-289376" defTabSz="1157510" hangingPunct="1">
              <a:spcBef>
                <a:spcPts val="12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2400" dirty="0">
                <a:solidFill>
                  <a:srgbClr val="000000"/>
                </a:solidFill>
                <a:latin typeface="Montserrat"/>
                <a:cs typeface="Arial"/>
              </a:rPr>
              <a:t>Капитан</a:t>
            </a:r>
          </a:p>
          <a:p>
            <a:pPr marL="289376" indent="-289376" defTabSz="1157510" hangingPunct="1">
              <a:spcBef>
                <a:spcPts val="12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  <a:latin typeface="Montserrat"/>
                <a:cs typeface="Arial"/>
              </a:rPr>
              <a:t>@E2hA1ex</a:t>
            </a:r>
            <a:endParaRPr lang="ru-RU" sz="2400" dirty="0">
              <a:solidFill>
                <a:srgbClr val="000000"/>
              </a:solidFill>
              <a:latin typeface="Montserrat"/>
              <a:cs typeface="Arial"/>
            </a:endParaRPr>
          </a:p>
          <a:p>
            <a:pPr marL="289376" indent="-289376" defTabSz="1157510" hangingPunct="1">
              <a:spcBef>
                <a:spcPts val="12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2400" dirty="0">
                <a:solidFill>
                  <a:srgbClr val="000000"/>
                </a:solidFill>
                <a:latin typeface="Montserrat"/>
                <a:cs typeface="Arial"/>
              </a:rPr>
              <a:t>+7 913 710 5307</a:t>
            </a:r>
          </a:p>
          <a:p>
            <a:pPr marL="289376" indent="-289376" defTabSz="1157510" hangingPunct="1">
              <a:spcBef>
                <a:spcPts val="12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2400" dirty="0">
                <a:solidFill>
                  <a:srgbClr val="000000"/>
                </a:solidFill>
                <a:latin typeface="Montserrat"/>
                <a:cs typeface="Arial"/>
              </a:rPr>
              <a:t>НГУ ММФ 3 курс</a:t>
            </a: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5647354" y="7244236"/>
            <a:ext cx="3445132" cy="1255820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57510" hangingPunct="1"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3200" b="1" dirty="0">
                <a:solidFill>
                  <a:srgbClr val="520977"/>
                </a:solidFill>
                <a:latin typeface="Montserrat"/>
                <a:cs typeface="Arial"/>
              </a:rPr>
              <a:t>Пронькин Алексей</a:t>
            </a:r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9913425" y="3044013"/>
            <a:ext cx="4385426" cy="966870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defTabSz="1828440" hangingPunct="1">
              <a:defRPr/>
            </a:pPr>
            <a:endParaRPr lang="ru-RU" sz="3600" b="1">
              <a:solidFill>
                <a:srgbClr val="FFD6E3"/>
              </a:solidFill>
              <a:latin typeface="Montserrat"/>
              <a:cs typeface="Arial"/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10257992" y="8500056"/>
            <a:ext cx="3788708" cy="3249224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9376" indent="-289376" defTabSz="1157510" hangingPunct="1">
              <a:spcBef>
                <a:spcPts val="12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2400" dirty="0">
                <a:solidFill>
                  <a:srgbClr val="000000"/>
                </a:solidFill>
                <a:latin typeface="Montserrat"/>
                <a:cs typeface="Arial"/>
              </a:rPr>
              <a:t>Математическая модель</a:t>
            </a:r>
          </a:p>
          <a:p>
            <a:pPr marL="289376" indent="-289376" defTabSz="1157510" hangingPunct="1">
              <a:spcBef>
                <a:spcPts val="12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  <a:latin typeface="Montserrat"/>
                <a:cs typeface="Arial"/>
              </a:rPr>
              <a:t>@aminealist</a:t>
            </a:r>
            <a:endParaRPr lang="ru-RU" sz="2400" dirty="0">
              <a:solidFill>
                <a:srgbClr val="000000"/>
              </a:solidFill>
              <a:latin typeface="Montserrat"/>
              <a:cs typeface="Arial"/>
            </a:endParaRPr>
          </a:p>
          <a:p>
            <a:pPr marL="289376" indent="-289376" defTabSz="1157510" hangingPunct="1">
              <a:spcBef>
                <a:spcPts val="12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2400" dirty="0">
                <a:solidFill>
                  <a:srgbClr val="000000"/>
                </a:solidFill>
                <a:latin typeface="Montserrat"/>
                <a:cs typeface="Arial"/>
              </a:rPr>
              <a:t>+7 996 379 0119</a:t>
            </a:r>
          </a:p>
          <a:p>
            <a:pPr marL="289376" indent="-289376" defTabSz="1157510" hangingPunct="1">
              <a:spcBef>
                <a:spcPts val="12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2400" dirty="0">
                <a:solidFill>
                  <a:srgbClr val="000000"/>
                </a:solidFill>
                <a:latin typeface="Montserrat"/>
                <a:cs typeface="Arial"/>
              </a:rPr>
              <a:t>НГУ ММФ 3 курс</a:t>
            </a:r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10257990" y="7244236"/>
            <a:ext cx="3445132" cy="1255820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57510" hangingPunct="1"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3200" b="1" dirty="0">
                <a:solidFill>
                  <a:srgbClr val="520977"/>
                </a:solidFill>
                <a:latin typeface="Montserrat"/>
                <a:cs typeface="Arial"/>
              </a:rPr>
              <a:t>Алешков Данил</a:t>
            </a:r>
          </a:p>
        </p:txBody>
      </p:sp>
      <p:sp>
        <p:nvSpPr>
          <p:cNvPr id="651037677" name="Скругленный прямоугольник 61"/>
          <p:cNvSpPr/>
          <p:nvPr/>
        </p:nvSpPr>
        <p:spPr bwMode="auto">
          <a:xfrm>
            <a:off x="14524063" y="3044013"/>
            <a:ext cx="4385426" cy="966870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defTabSz="1828440" hangingPunct="1">
              <a:defRPr/>
            </a:pPr>
            <a:endParaRPr lang="ru-RU" sz="3600" b="1">
              <a:solidFill>
                <a:srgbClr val="FFD6E3"/>
              </a:solidFill>
              <a:latin typeface="Montserrat"/>
              <a:cs typeface="Arial"/>
            </a:endParaRPr>
          </a:p>
        </p:txBody>
      </p:sp>
      <p:sp>
        <p:nvSpPr>
          <p:cNvPr id="499875170" name="Текст 8"/>
          <p:cNvSpPr txBox="1"/>
          <p:nvPr/>
        </p:nvSpPr>
        <p:spPr bwMode="auto">
          <a:xfrm>
            <a:off x="14868630" y="8500056"/>
            <a:ext cx="3788708" cy="3249224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9376" indent="-289376" defTabSz="1157510" hangingPunct="1">
              <a:spcBef>
                <a:spcPts val="12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  <a:latin typeface="Montserrat"/>
                <a:cs typeface="Arial"/>
              </a:rPr>
              <a:t>Frontend &amp; </a:t>
            </a:r>
            <a:r>
              <a:rPr lang="ru-RU" sz="2400" dirty="0">
                <a:solidFill>
                  <a:srgbClr val="000000"/>
                </a:solidFill>
                <a:latin typeface="Montserrat"/>
                <a:cs typeface="Arial"/>
              </a:rPr>
              <a:t>Дашборд </a:t>
            </a:r>
          </a:p>
          <a:p>
            <a:pPr marL="289376" indent="-289376" defTabSz="1157510" hangingPunct="1">
              <a:spcBef>
                <a:spcPts val="12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en-US" sz="2400" dirty="0">
                <a:solidFill>
                  <a:srgbClr val="000000"/>
                </a:solidFill>
                <a:latin typeface="Montserrat"/>
                <a:cs typeface="Arial"/>
              </a:rPr>
              <a:t>@MRubanov</a:t>
            </a:r>
            <a:endParaRPr lang="ru-RU" sz="2400" dirty="0">
              <a:solidFill>
                <a:srgbClr val="000000"/>
              </a:solidFill>
              <a:latin typeface="Montserrat"/>
              <a:cs typeface="Arial"/>
            </a:endParaRPr>
          </a:p>
          <a:p>
            <a:pPr marL="289376" indent="-289376" defTabSz="1157510" hangingPunct="1">
              <a:spcBef>
                <a:spcPts val="12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2400" dirty="0">
                <a:solidFill>
                  <a:srgbClr val="000000"/>
                </a:solidFill>
                <a:latin typeface="Montserrat"/>
                <a:cs typeface="Arial"/>
              </a:rPr>
              <a:t>+7 923 614 7737</a:t>
            </a:r>
          </a:p>
          <a:p>
            <a:pPr marL="289376" indent="-289376" defTabSz="1157510" hangingPunct="1">
              <a:spcBef>
                <a:spcPts val="1200"/>
              </a:spcBef>
              <a:buClr>
                <a:srgbClr val="FF0053"/>
              </a:buClr>
              <a:buFont typeface="Arial"/>
              <a:buChar char="•"/>
              <a:defRPr/>
            </a:pPr>
            <a:r>
              <a:rPr lang="ru-RU" sz="2400" dirty="0">
                <a:solidFill>
                  <a:srgbClr val="000000"/>
                </a:solidFill>
                <a:latin typeface="Montserrat"/>
                <a:cs typeface="Arial"/>
              </a:rPr>
              <a:t>НГУ ММФ 3 курс</a:t>
            </a:r>
          </a:p>
        </p:txBody>
      </p:sp>
      <p:sp>
        <p:nvSpPr>
          <p:cNvPr id="1054387886" name="Текст 8"/>
          <p:cNvSpPr txBox="1"/>
          <p:nvPr/>
        </p:nvSpPr>
        <p:spPr bwMode="auto">
          <a:xfrm>
            <a:off x="14868628" y="7244236"/>
            <a:ext cx="3445132" cy="1255820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57510" hangingPunct="1"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3200" b="1" dirty="0">
                <a:solidFill>
                  <a:srgbClr val="520977"/>
                </a:solidFill>
                <a:latin typeface="Montserrat"/>
                <a:cs typeface="Arial"/>
              </a:rPr>
              <a:t>Рубанов Михаил</a:t>
            </a: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692150" y="649125"/>
            <a:ext cx="3811270" cy="124183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defTabSz="1828440" hangingPunct="1">
              <a:defRPr/>
            </a:pPr>
            <a:endParaRPr lang="ru-RU" sz="3600" b="1">
              <a:solidFill>
                <a:srgbClr val="FFD6E3"/>
              </a:solidFill>
              <a:latin typeface="Montserrat"/>
              <a:cs typeface="Arial"/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defTabSz="1828440" hangingPunct="1">
              <a:defRPr/>
            </a:pPr>
            <a:fld id="{52DCC5B9-D646-4B76-891F-6FF4E74E9CB4}" type="slidenum">
              <a:rPr lang="ru-RU">
                <a:solidFill>
                  <a:srgbClr val="FFFFFF"/>
                </a:solidFill>
                <a:latin typeface="Montserrat"/>
                <a:cs typeface="Arial"/>
              </a:rPr>
              <a:pPr defTabSz="1828440" hangingPunct="1">
                <a:defRPr/>
              </a:pPr>
              <a:t>17</a:t>
            </a:fld>
            <a:endParaRPr lang="ru-RU">
              <a:solidFill>
                <a:srgbClr val="FFFFFF"/>
              </a:solidFill>
              <a:latin typeface="Montserrat"/>
              <a:cs typeface="Arial"/>
            </a:endParaRPr>
          </a:p>
        </p:txBody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1036718" y="899574"/>
            <a:ext cx="19725468" cy="752276"/>
          </a:xfrm>
        </p:spPr>
        <p:txBody>
          <a:bodyPr/>
          <a:lstStyle/>
          <a:p>
            <a:pPr>
              <a:defRPr/>
            </a:pPr>
            <a:r>
              <a:rPr lang="ru-RU" dirty="0"/>
              <a:t>КОМАНДА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1AA639-62D8-D895-8D56-A6F802963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331" y="3362821"/>
            <a:ext cx="3596202" cy="36064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2ACBE2-2CC8-8F1A-685E-51051BEEAF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956" t="-1011" r="10044" b="1011"/>
          <a:stretch>
            <a:fillRect/>
          </a:stretch>
        </p:blipFill>
        <p:spPr>
          <a:xfrm>
            <a:off x="14964882" y="3373093"/>
            <a:ext cx="3596204" cy="3596206"/>
          </a:xfrm>
          <a:prstGeom prst="ellipse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9200AE-3E7F-2A2B-5AF5-3AE706BE5CC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2500" b="12500"/>
          <a:stretch>
            <a:fillRect/>
          </a:stretch>
        </p:blipFill>
        <p:spPr>
          <a:xfrm>
            <a:off x="10330306" y="3368294"/>
            <a:ext cx="3551660" cy="3551660"/>
          </a:xfrm>
          <a:prstGeom prst="ellipse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defTabSz="1828440" hangingPunct="1">
              <a:defRPr/>
            </a:pPr>
            <a:fld id="{52DCC5B9-D646-4B76-891F-6FF4E74E9CB4}" type="slidenum">
              <a:rPr lang="ru-RU">
                <a:solidFill>
                  <a:srgbClr val="520977"/>
                </a:solidFill>
                <a:latin typeface="Montserrat"/>
                <a:cs typeface="Arial"/>
              </a:rPr>
              <a:pPr defTabSz="1828440" hangingPunct="1">
                <a:defRPr/>
              </a:pPr>
              <a:t>18</a:t>
            </a:fld>
            <a:endParaRPr lang="ru-RU">
              <a:solidFill>
                <a:srgbClr val="520977"/>
              </a:solidFill>
              <a:latin typeface="Montserrat"/>
              <a:cs typeface="Arial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1181514" y="3730327"/>
            <a:ext cx="10271346" cy="186852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3 студента 3 курса ММФ НГУ, Новосибирск. Собрались на курсе «Проектная деятельность».</a:t>
            </a:r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1067215" y="2559291"/>
            <a:ext cx="5980346" cy="707870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57510" hangingPunct="1">
              <a:lnSpc>
                <a:spcPct val="100000"/>
              </a:lnSpc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2800" b="1">
                <a:solidFill>
                  <a:srgbClr val="520977"/>
                </a:solidFill>
                <a:latin typeface="Montserrat"/>
                <a:cs typeface="Arial"/>
              </a:rPr>
              <a:t>Наша команда:</a:t>
            </a:r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1067215" y="10278510"/>
            <a:ext cx="14637498" cy="2110724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57510" hangingPunct="1">
              <a:lnSpc>
                <a:spcPct val="100000"/>
              </a:lnSpc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2800" dirty="0">
                <a:solidFill>
                  <a:srgbClr val="000000"/>
                </a:solidFill>
                <a:latin typeface="Montserrat"/>
                <a:cs typeface="Arial"/>
              </a:rPr>
              <a:t>Учёт реальной кривизны дорог, особенно для пеших техников, учёт естественного трафика на дорогах Москвы и других городов, подключили </a:t>
            </a:r>
            <a:r>
              <a:rPr lang="en-US" sz="2800" dirty="0">
                <a:solidFill>
                  <a:srgbClr val="000000"/>
                </a:solidFill>
                <a:latin typeface="Montserrat"/>
                <a:cs typeface="Arial"/>
              </a:rPr>
              <a:t>API OSM</a:t>
            </a:r>
            <a:r>
              <a:rPr lang="ru-RU" sz="2800" dirty="0">
                <a:solidFill>
                  <a:srgbClr val="000000"/>
                </a:solidFill>
                <a:latin typeface="Montserrat"/>
                <a:cs typeface="Arial"/>
              </a:rPr>
              <a:t>; составление математической модели; перевод задачи с естественного языка в строгую формальную постановку.</a:t>
            </a: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1067216" y="9142946"/>
            <a:ext cx="12877384" cy="1258112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57510" hangingPunct="1">
              <a:lnSpc>
                <a:spcPct val="110000"/>
              </a:lnSpc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2800" b="1">
                <a:solidFill>
                  <a:srgbClr val="520977"/>
                </a:solidFill>
                <a:latin typeface="Montserrat"/>
                <a:cs typeface="Arial"/>
              </a:rPr>
              <a:t>Сложности и как их преодолели:</a:t>
            </a:r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1067214" y="6858001"/>
            <a:ext cx="10271345" cy="2157058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57510" hangingPunct="1">
              <a:lnSpc>
                <a:spcPct val="100000"/>
              </a:lnSpc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2800" dirty="0">
                <a:solidFill>
                  <a:srgbClr val="000000"/>
                </a:solidFill>
                <a:latin typeface="Montserrat"/>
                <a:cs typeface="Arial"/>
              </a:rPr>
              <a:t>Участники команды уже занимались задачами оптимизации и составления расписаний в частности</a:t>
            </a: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1067214" y="5800183"/>
            <a:ext cx="11259716" cy="1057818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57510" hangingPunct="1">
              <a:lnSpc>
                <a:spcPct val="100000"/>
              </a:lnSpc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2800" b="1">
                <a:solidFill>
                  <a:srgbClr val="520977"/>
                </a:solidFill>
                <a:latin typeface="Montserrat"/>
                <a:cs typeface="Arial"/>
              </a:rPr>
              <a:t>Почему выбрали эту задачу?</a:t>
            </a:r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1247776" y="5491380"/>
            <a:ext cx="224663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1247776" y="8814132"/>
            <a:ext cx="224663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1247776" y="2220148"/>
            <a:ext cx="224663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22031576" y="2559291"/>
            <a:ext cx="1913676" cy="707870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1157510" hangingPunct="1"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2800" b="1">
                <a:solidFill>
                  <a:srgbClr val="520977"/>
                </a:solidFill>
                <a:latin typeface="Montserrat"/>
                <a:cs typeface="Arial"/>
              </a:rPr>
              <a:t>01</a:t>
            </a:r>
            <a:endParaRPr sz="2800">
              <a:solidFill>
                <a:srgbClr val="FFFFFF">
                  <a:lumMod val="95000"/>
                </a:srgbClr>
              </a:solidFill>
              <a:latin typeface="Montserrat"/>
              <a:cs typeface="Arial"/>
            </a:endParaRPr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22031577" y="5800183"/>
            <a:ext cx="1861190" cy="1057818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1157510" hangingPunct="1">
              <a:lnSpc>
                <a:spcPct val="100000"/>
              </a:lnSpc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2800" b="1">
                <a:solidFill>
                  <a:srgbClr val="520977"/>
                </a:solidFill>
                <a:latin typeface="Montserrat"/>
                <a:cs typeface="Arial"/>
              </a:rPr>
              <a:t>02</a:t>
            </a:r>
            <a:endParaRPr sz="2800">
              <a:solidFill>
                <a:srgbClr val="FFFFFF">
                  <a:lumMod val="95000"/>
                </a:srgbClr>
              </a:solidFill>
              <a:latin typeface="Montserrat"/>
              <a:cs typeface="Arial"/>
            </a:endParaRPr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22031576" y="9142946"/>
            <a:ext cx="1861192" cy="1135564"/>
          </a:xfrm>
          <a:prstGeom prst="rect">
            <a:avLst/>
          </a:prstGeom>
          <a:ln>
            <a:noFill/>
          </a:ln>
        </p:spPr>
        <p:txBody>
          <a:bodyPr vert="horz" lIns="182880" tIns="91440" rIns="182880" bIns="9144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1157510" hangingPunct="1">
              <a:lnSpc>
                <a:spcPct val="100000"/>
              </a:lnSpc>
              <a:spcBef>
                <a:spcPts val="1262"/>
              </a:spcBef>
              <a:buClr>
                <a:srgbClr val="FF0053"/>
              </a:buClr>
              <a:buNone/>
              <a:defRPr/>
            </a:pPr>
            <a:r>
              <a:rPr lang="ru-RU" sz="2800" b="1">
                <a:solidFill>
                  <a:srgbClr val="520977"/>
                </a:solidFill>
                <a:latin typeface="Montserrat"/>
                <a:cs typeface="Arial"/>
              </a:rPr>
              <a:t>03</a:t>
            </a:r>
            <a:endParaRPr sz="2800">
              <a:solidFill>
                <a:srgbClr val="FFFFFF">
                  <a:lumMod val="95000"/>
                </a:srgbClr>
              </a:solidFill>
              <a:latin typeface="Montserrat"/>
              <a:cs typeface="Arial"/>
            </a:endParaRPr>
          </a:p>
        </p:txBody>
      </p:sp>
      <p:sp>
        <p:nvSpPr>
          <p:cNvPr id="3" name="Скругленный прямоугольник 1">
            <a:extLst>
              <a:ext uri="{FF2B5EF4-FFF2-40B4-BE49-F238E27FC236}">
                <a16:creationId xmlns:a16="http://schemas.microsoft.com/office/drawing/2014/main" id="{BCE99650-FE5C-1448-6E97-12A961D4C7A5}"/>
              </a:ext>
            </a:extLst>
          </p:cNvPr>
          <p:cNvSpPr/>
          <p:nvPr/>
        </p:nvSpPr>
        <p:spPr bwMode="auto">
          <a:xfrm>
            <a:off x="692150" y="649125"/>
            <a:ext cx="7905312" cy="124183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28440" hangingPunct="1">
              <a:defRPr/>
            </a:pPr>
            <a:r>
              <a:rPr lang="ru-RU" sz="3600" b="1" dirty="0">
                <a:solidFill>
                  <a:srgbClr val="FFD6E3"/>
                </a:solidFill>
                <a:latin typeface="Montserrat"/>
                <a:cs typeface="Arial"/>
              </a:rPr>
              <a:t>67 ИНДУСОВ ПОД КАПОТОМ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692151" y="649125"/>
            <a:ext cx="7217409" cy="124183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1828440" hangingPunct="1">
              <a:defRPr/>
            </a:pPr>
            <a:endParaRPr lang="ru-RU" sz="3600" b="1">
              <a:solidFill>
                <a:srgbClr val="FFD6E3"/>
              </a:solidFill>
              <a:latin typeface="Montserrat"/>
              <a:cs typeface="Arial"/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12461549" y="2422568"/>
            <a:ext cx="10880626" cy="9978984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defTabSz="1828440" hangingPunct="1">
              <a:defRPr/>
            </a:pPr>
            <a:endParaRPr lang="ru-RU" sz="3600" b="1">
              <a:solidFill>
                <a:srgbClr val="FFD6E3"/>
              </a:solidFill>
              <a:latin typeface="Montserrat"/>
              <a:cs typeface="Arial"/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692153" y="2422568"/>
            <a:ext cx="10880626" cy="9978984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defTabSz="1828440" hangingPunct="1">
              <a:defRPr/>
            </a:pPr>
            <a:endParaRPr lang="ru-RU" sz="3600" b="1">
              <a:solidFill>
                <a:srgbClr val="FFD6E3"/>
              </a:solidFill>
              <a:latin typeface="Montserrat"/>
              <a:cs typeface="Arial"/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defTabSz="1828440" hangingPunct="1">
              <a:defRPr/>
            </a:pPr>
            <a:fld id="{52DCC5B9-D646-4B76-891F-6FF4E74E9CB4}" type="slidenum">
              <a:rPr lang="ru-RU">
                <a:solidFill>
                  <a:srgbClr val="FFFFFF"/>
                </a:solidFill>
                <a:latin typeface="Montserrat"/>
                <a:cs typeface="Arial"/>
              </a:rPr>
              <a:pPr defTabSz="1828440" hangingPunct="1">
                <a:defRPr/>
              </a:pPr>
              <a:t>19</a:t>
            </a:fld>
            <a:endParaRPr lang="ru-RU">
              <a:solidFill>
                <a:srgbClr val="FFFFFF"/>
              </a:solidFill>
              <a:latin typeface="Montserrat"/>
              <a:cs typeface="Arial"/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178985" y="3841855"/>
            <a:ext cx="9859722" cy="77371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 dirty="0">
                <a:solidFill>
                  <a:schemeClr val="tx1"/>
                </a:solidFill>
              </a:rPr>
              <a:t>Модель VRP-TW-S-C-M: окна 2 ч, навыки, вместимость, мультимодальный парк</a:t>
            </a:r>
          </a:p>
          <a:p>
            <a:pPr>
              <a:defRPr/>
            </a:pPr>
            <a:r>
              <a:rPr lang="ru-RU" sz="3200" dirty="0">
                <a:solidFill>
                  <a:schemeClr val="tx1"/>
                </a:solidFill>
              </a:rPr>
              <a:t>Цель: заявка ≫ бригада ≫ километр (веса 10⁶ / 10³ / 1)</a:t>
            </a:r>
          </a:p>
          <a:p>
            <a:pPr>
              <a:defRPr/>
            </a:pPr>
            <a:r>
              <a:rPr lang="ru-RU" sz="3200" dirty="0">
                <a:solidFill>
                  <a:schemeClr val="tx1"/>
                </a:solidFill>
              </a:rPr>
              <a:t>4-Pass жадная эвристика → тёплый старт → OR-Tools </a:t>
            </a:r>
            <a:r>
              <a:rPr lang="ru-RU" sz="3200" dirty="0" err="1">
                <a:solidFill>
                  <a:schemeClr val="tx1"/>
                </a:solidFill>
              </a:rPr>
              <a:t>Guided</a:t>
            </a:r>
            <a:r>
              <a:rPr lang="ru-RU" sz="3200" dirty="0">
                <a:solidFill>
                  <a:schemeClr val="tx1"/>
                </a:solidFill>
              </a:rPr>
              <a:t> Local Search</a:t>
            </a:r>
          </a:p>
          <a:p>
            <a:pPr>
              <a:defRPr/>
            </a:pPr>
            <a:r>
              <a:rPr lang="ru-RU" sz="3200" dirty="0">
                <a:solidFill>
                  <a:schemeClr val="tx1"/>
                </a:solidFill>
              </a:rPr>
              <a:t>Расстояния по графам OSM (OSRM, FOSSGIS), 100% плеч</a:t>
            </a:r>
          </a:p>
          <a:p>
            <a:pPr>
              <a:defRPr/>
            </a:pPr>
            <a:r>
              <a:rPr lang="ru-RU" sz="3200" dirty="0">
                <a:solidFill>
                  <a:schemeClr val="tx1"/>
                </a:solidFill>
              </a:rPr>
              <a:t>Независимый валидатор: окна, смены, навыки, вместимость</a:t>
            </a: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3027026" y="3841855"/>
            <a:ext cx="9914288" cy="775289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3200" dirty="0">
                <a:solidFill>
                  <a:schemeClr val="tx1"/>
                </a:solidFill>
              </a:rPr>
              <a:t>В дальнейшем решение может быть:</a:t>
            </a:r>
          </a:p>
          <a:p>
            <a:pPr>
              <a:defRPr/>
            </a:pPr>
            <a:r>
              <a:rPr lang="ru-RU" sz="3200" dirty="0">
                <a:solidFill>
                  <a:schemeClr val="tx1"/>
                </a:solidFill>
              </a:rPr>
              <a:t>Интегрировано непосредственно в округа Восток, </a:t>
            </a:r>
            <a:r>
              <a:rPr lang="ru-RU" sz="3200" dirty="0" err="1">
                <a:solidFill>
                  <a:schemeClr val="tx1"/>
                </a:solidFill>
              </a:rPr>
              <a:t>Юго</a:t>
            </a:r>
            <a:r>
              <a:rPr lang="en-US" sz="3200" dirty="0">
                <a:solidFill>
                  <a:schemeClr val="tx1"/>
                </a:solidFill>
              </a:rPr>
              <a:t>-</a:t>
            </a:r>
            <a:r>
              <a:rPr lang="ru-RU" sz="3200" dirty="0">
                <a:solidFill>
                  <a:schemeClr val="tx1"/>
                </a:solidFill>
              </a:rPr>
              <a:t>центр, Юго-восток что приведёт к −26% бригад, −40% км на заявку в среднем.</a:t>
            </a:r>
          </a:p>
          <a:p>
            <a:pPr>
              <a:defRPr/>
            </a:pPr>
            <a:r>
              <a:rPr lang="ru-RU" sz="3200" dirty="0">
                <a:solidFill>
                  <a:schemeClr val="tx1"/>
                </a:solidFill>
              </a:rPr>
              <a:t>Масштабирование на другие округа и типы бригад</a:t>
            </a:r>
          </a:p>
          <a:p>
            <a:pPr>
              <a:defRPr/>
            </a:pPr>
            <a:r>
              <a:rPr lang="ru-RU" sz="3200" dirty="0">
                <a:solidFill>
                  <a:schemeClr val="tx1"/>
                </a:solidFill>
              </a:rPr>
              <a:t>Интеграция с системой приёма заявок в автономном режиме</a:t>
            </a: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1051634" y="913702"/>
            <a:ext cx="19725468" cy="752276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1156127" y="2953167"/>
            <a:ext cx="9859722" cy="1110294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4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13027026" y="2953168"/>
            <a:ext cx="8935508" cy="730252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4000" b="1" dirty="0">
                <a:solidFill>
                  <a:schemeClr val="accent5"/>
                </a:solidFill>
              </a:rPr>
              <a:t>Маркетинговая суть решения</a:t>
            </a: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beetech">
      <a:dk1>
        <a:srgbClr val="1E1E1E"/>
      </a:dk1>
      <a:lt1>
        <a:srgbClr val="FFFFFF"/>
      </a:lt1>
      <a:dk2>
        <a:srgbClr val="141414"/>
      </a:dk2>
      <a:lt2>
        <a:srgbClr val="F8F8F8"/>
      </a:lt2>
      <a:accent1>
        <a:srgbClr val="FFC800"/>
      </a:accent1>
      <a:accent2>
        <a:srgbClr val="F59B19"/>
      </a:accent2>
      <a:accent3>
        <a:srgbClr val="F47300"/>
      </a:accent3>
      <a:accent4>
        <a:srgbClr val="00C2AB"/>
      </a:accent4>
      <a:accent5>
        <a:srgbClr val="EC008C"/>
      </a:accent5>
      <a:accent6>
        <a:srgbClr val="6332C8"/>
      </a:accent6>
      <a:hlink>
        <a:srgbClr val="F07300"/>
      </a:hlink>
      <a:folHlink>
        <a:srgbClr val="E5093B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6DC749F4E63E2499755345AD71F676C" ma:contentTypeVersion="1" ma:contentTypeDescription="Создание документа." ma:contentTypeScope="" ma:versionID="befad51a7d1e2057edc29d085254fa4b">
  <xsd:schema xmlns:xsd="http://www.w3.org/2001/XMLSchema" xmlns:xs="http://www.w3.org/2001/XMLSchema" xmlns:p="http://schemas.microsoft.com/office/2006/metadata/properties" xmlns:ns2="b0d1da1b-b766-4d02-a7fe-ca5e63ac8b47" targetNamespace="http://schemas.microsoft.com/office/2006/metadata/properties" ma:root="true" ma:fieldsID="60ff9718db658d84870affcbadea4cab" ns2:_="">
    <xsd:import namespace="b0d1da1b-b766-4d02-a7fe-ca5e63ac8b47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d1da1b-b766-4d02-a7fe-ca5e63ac8b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770616-B9A9-4136-8EF0-5FD8000A08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d1da1b-b766-4d02-a7fe-ca5e63ac8b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F782C7-19C9-468F-A881-26AE90F9B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D8C896-CF3A-4CE8-9C0B-CB9A407D053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1172</Words>
  <Application>Microsoft Macintosh PowerPoint</Application>
  <PresentationFormat>Custom</PresentationFormat>
  <Paragraphs>174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</vt:lpstr>
      <vt:lpstr>Beeline Sans</vt:lpstr>
      <vt:lpstr>Beeline Sans Black</vt:lpstr>
      <vt:lpstr>Beeline Sans Medium</vt:lpstr>
      <vt:lpstr>Calibri</vt:lpstr>
      <vt:lpstr>Helvetica</vt:lpstr>
      <vt:lpstr>Helvetica Neue</vt:lpstr>
      <vt:lpstr>Helvetica Neue Medium</vt:lpstr>
      <vt:lpstr>Montserrat</vt:lpstr>
      <vt:lpstr>Wingdings</vt:lpstr>
      <vt:lpstr>21_BasicWhite</vt:lpstr>
      <vt:lpstr>Для Академия инноваторов 16_9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67 индусов под капотом</vt:lpstr>
      <vt:lpstr>О НАШЕМ РЕШЕНИИ</vt:lpstr>
      <vt:lpstr>КОМАНДА</vt:lpstr>
      <vt:lpstr>PowerPoint Presentation</vt:lpstr>
      <vt:lpstr>КОРОТКО О РЕШЕНИИ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</dc:creator>
  <cp:lastModifiedBy>PX23472 UserPX</cp:lastModifiedBy>
  <cp:revision>36</cp:revision>
  <dcterms:modified xsi:type="dcterms:W3CDTF">2026-09-29T15:34:38Z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0x010100C6DC749F4E63E2499755345AD71F676C</vt:lpwstr>
  </property>
</Properties>
</file>