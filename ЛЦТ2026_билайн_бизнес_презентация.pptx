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5" r:id="rId5"/>
    <p:sldId id="266" r:id="rId6"/>
    <p:sldId id="276" r:id="rId7"/>
    <p:sldId id="279" r:id="rId8"/>
    <p:sldId id="271" r:id="rId9"/>
    <p:sldId id="262" r:id="rId10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-86" y="-24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ru-RU" sz="1400" b="1">
                <a:solidFill>
                  <a:srgbClr val="FFFFFF"/>
                </a:solidFill>
              </a:rPr>
              <a:t>Км на выполненную заявку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5.1687999999999998E-2"/>
          <c:y val="0.12693499999999999"/>
          <c:w val="0.92608599999999996"/>
          <c:h val="0.667471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FIFO</c:v>
                </c:pt>
              </c:strCache>
            </c:strRef>
          </c:tx>
          <c:spPr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Восток</c:v>
                </c:pt>
                <c:pt idx="1">
                  <c:v>Юго-восток</c:v>
                </c:pt>
                <c:pt idx="2">
                  <c:v>Югоцентр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7.3</c:v>
                </c:pt>
                <c:pt idx="1">
                  <c:v>7.14</c:v>
                </c:pt>
                <c:pt idx="2">
                  <c:v>8.35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93-4D49-85FE-0CA79C0AE2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Оптимизатор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Восток</c:v>
                </c:pt>
                <c:pt idx="1">
                  <c:v>Юго-восток</c:v>
                </c:pt>
                <c:pt idx="2">
                  <c:v>Югоцентр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4.2</c:v>
                </c:pt>
                <c:pt idx="1">
                  <c:v>4.1100000000000003</c:v>
                </c:pt>
                <c:pt idx="2">
                  <c:v>5.53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93-4D49-85FE-0CA79C0AE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prstGeom prst="rect">
          <a:avLst/>
        </a:prstGeom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1E-2"/>
          <c:y val="0.93820099999999995"/>
          <c:w val="0.94740100000000005"/>
          <c:h val="6.1799E-2"/>
        </c:manualLayout>
      </c:layout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xfrm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C47A06-960F-983E-3E35-94F51F621FF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06EBC-152B-39B7-84F3-BD9F4D07ECD0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683076" name="Номер слайда 2"/>
          <p:cNvSpPr>
            <a:spLocks noGrp="1"/>
          </p:cNvSpPr>
          <p:nvPr>
            <p:ph type="sldNum" sz="quarter" idx="4"/>
          </p:nvPr>
        </p:nvSpPr>
        <p:spPr bwMode="auto">
          <a:xfrm>
            <a:off x="11418327" y="6356362"/>
            <a:ext cx="702819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  <p:sp>
        <p:nvSpPr>
          <p:cNvPr id="835683077" name="TextBox 835683076"/>
          <p:cNvSpPr txBox="1"/>
          <p:nvPr/>
        </p:nvSpPr>
        <p:spPr>
          <a:xfrm>
            <a:off x="457200" y="4526280"/>
            <a:ext cx="6766560" cy="1174681"/>
          </a:xfrm>
          <a:prstGeom prst="rect">
            <a:avLst/>
          </a:prstGeom>
          <a:noFill/>
        </p:spPr>
        <p:txBody>
          <a:bodyPr wrap="square" lIns="0" anchor="t">
            <a:spAutoFit/>
          </a:bodyPr>
          <a:lstStyle/>
          <a:p>
            <a:r>
              <a:rPr sz="2400" b="1" dirty="0" err="1">
                <a:solidFill>
                  <a:srgbClr val="FFFFFF"/>
                </a:solidFill>
              </a:rPr>
              <a:t>Интеллектуальная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маршрутизация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выездных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инженеров</a:t>
            </a:r>
            <a:endParaRPr sz="2400" b="1" dirty="0">
              <a:solidFill>
                <a:srgbClr val="FFFFFF"/>
              </a:solidFill>
            </a:endParaRPr>
          </a:p>
          <a:p>
            <a:pPr>
              <a:spcBef>
                <a:spcPts val="1000"/>
              </a:spcBef>
            </a:pPr>
            <a:r>
              <a:rPr sz="1400" b="0" dirty="0" err="1">
                <a:solidFill>
                  <a:srgbClr val="FFFFFF"/>
                </a:solidFill>
              </a:rPr>
              <a:t>билайн</a:t>
            </a:r>
            <a:r>
              <a:rPr sz="1400" b="0" dirty="0">
                <a:solidFill>
                  <a:srgbClr val="FFFFFF"/>
                </a:solidFill>
              </a:rPr>
              <a:t> </a:t>
            </a:r>
            <a:r>
              <a:rPr sz="1400" b="0" dirty="0" err="1">
                <a:solidFill>
                  <a:srgbClr val="FFFFFF"/>
                </a:solidFill>
              </a:rPr>
              <a:t>бизнес</a:t>
            </a:r>
            <a:r>
              <a:rPr sz="1400" b="0" dirty="0">
                <a:solidFill>
                  <a:srgbClr val="FFFFFF"/>
                </a:solidFill>
              </a:rPr>
              <a:t> · </a:t>
            </a:r>
            <a:r>
              <a:rPr sz="1400" b="0" dirty="0" err="1">
                <a:solidFill>
                  <a:srgbClr val="FFFFFF"/>
                </a:solidFill>
              </a:rPr>
              <a:t>Задача</a:t>
            </a:r>
            <a:r>
              <a:rPr sz="1400" b="0" dirty="0">
                <a:solidFill>
                  <a:srgbClr val="FFFFFF"/>
                </a:solidFill>
              </a:rPr>
              <a:t> №3 · </a:t>
            </a:r>
            <a:r>
              <a:rPr sz="1400" b="0" dirty="0" err="1">
                <a:solidFill>
                  <a:srgbClr val="FFFFFF"/>
                </a:solidFill>
              </a:rPr>
              <a:t>Команда</a:t>
            </a:r>
            <a:r>
              <a:rPr lang="ru-RU" sz="1400" b="0" dirty="0">
                <a:solidFill>
                  <a:srgbClr val="FFFFFF"/>
                </a:solidFill>
              </a:rPr>
              <a:t> 67 индусов под капотом</a:t>
            </a:r>
            <a:endParaRPr sz="1400"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Связка </a:t>
            </a:r>
            <a:r>
              <a:rPr lang="en-US" sz="1200" dirty="0">
                <a:solidFill>
                  <a:schemeClr val="tx1"/>
                </a:solidFill>
              </a:rPr>
              <a:t>OR-tools + </a:t>
            </a:r>
            <a:r>
              <a:rPr lang="ru-RU" sz="1200" dirty="0">
                <a:solidFill>
                  <a:schemeClr val="tx1"/>
                </a:solidFill>
              </a:rPr>
              <a:t>жадный алгоритм для тёплого старта + дополнительная независимая валидация</a:t>
            </a: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solidFill>
                  <a:schemeClr val="tx1"/>
                </a:solidFill>
              </a:rPr>
              <a:t>Капитан: </a:t>
            </a:r>
            <a:r>
              <a:rPr lang="ru-RU" sz="1400" b="0" dirty="0">
                <a:solidFill>
                  <a:schemeClr val="tx1"/>
                </a:solidFill>
              </a:rPr>
              <a:t>Пронькин Алексей Андреевич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solidFill>
                  <a:schemeClr val="tx1"/>
                </a:solidFill>
              </a:rPr>
              <a:t>Кол-во участников: </a:t>
            </a:r>
            <a:r>
              <a:rPr lang="en-US" sz="1400" b="0" dirty="0">
                <a:solidFill>
                  <a:schemeClr val="tx1"/>
                </a:solidFill>
              </a:rPr>
              <a:t>3 </a:t>
            </a:r>
            <a:r>
              <a:rPr lang="ru-RU" sz="1400" b="0" dirty="0">
                <a:solidFill>
                  <a:schemeClr val="tx1"/>
                </a:solidFill>
              </a:rPr>
              <a:t>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solidFill>
                  <a:schemeClr val="tx1"/>
                </a:solidFill>
              </a:rPr>
              <a:t>О команде: </a:t>
            </a:r>
            <a:r>
              <a:rPr lang="ru-RU" sz="1400" b="0" dirty="0">
                <a:solidFill>
                  <a:schemeClr val="tx1"/>
                </a:solidFill>
              </a:rPr>
              <a:t>Наша команда образовалась в ходе совместной работы в рамках курса «Проектная деятельность». В данный момент все участники проекта являются студентами 3-го курса ММФ НГУ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solidFill>
                  <a:schemeClr val="tx1"/>
                </a:solidFill>
              </a:rPr>
              <a:t>Город и регион: </a:t>
            </a:r>
            <a:r>
              <a:rPr lang="ru-RU" sz="1400" b="0" dirty="0">
                <a:solidFill>
                  <a:schemeClr val="tx1"/>
                </a:solidFill>
              </a:rPr>
              <a:t>Новосибирск, Новосибирская область</a:t>
            </a: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</a:rPr>
              <a:t>О НАШЕМ РЕШЕНИИ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Веб-сервис распределяет заявки между инженерами и строит маршруты </a:t>
            </a:r>
            <a:r>
              <a:rPr lang="ru-RU" sz="1200" dirty="0" err="1">
                <a:solidFill>
                  <a:schemeClr val="tx1"/>
                </a:solidFill>
              </a:rPr>
              <a:t>приоретизируя</a:t>
            </a:r>
            <a:r>
              <a:rPr lang="ru-RU" sz="1200" dirty="0">
                <a:solidFill>
                  <a:schemeClr val="tx1"/>
                </a:solidFill>
              </a:rPr>
              <a:t> метрики следующим образом: все заявки выполнены, бригад меньше, пробег короче.</a:t>
            </a: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52FBEA-D362-172B-D357-DC4D3E01D3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106" t="30519" r="-1263"/>
          <a:stretch>
            <a:fillRect/>
          </a:stretch>
        </p:blipFill>
        <p:spPr>
          <a:xfrm>
            <a:off x="413742" y="34740"/>
            <a:ext cx="5687315" cy="29077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@E2hA1ex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+7 913 710 5307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НГУ ММФ 3 курс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Пронькин Алексей</a:t>
            </a:r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Математическая модель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@aminealist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+7 996 379 0119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НГУ ММФ 3 курс</a:t>
            </a: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Алешков Данил</a:t>
            </a:r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Frontend &amp; </a:t>
            </a:r>
            <a:r>
              <a:rPr lang="ru-RU" sz="1200" dirty="0">
                <a:solidFill>
                  <a:schemeClr val="tx1"/>
                </a:solidFill>
              </a:rPr>
              <a:t>Дашборд 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@MRubanov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+7 923 614 7737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НГУ ММФ 3 курс</a:t>
            </a: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Рубанов Михаил</a:t>
            </a: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КОМАНДА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1AA639-62D8-D895-8D56-A6F802963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665" y="1681410"/>
            <a:ext cx="1798101" cy="180323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2ACBE2-2CC8-8F1A-685E-51051BEEAF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956" t="-1011" r="10044" b="1011"/>
          <a:stretch>
            <a:fillRect/>
          </a:stretch>
        </p:blipFill>
        <p:spPr>
          <a:xfrm>
            <a:off x="7482441" y="1686546"/>
            <a:ext cx="1798102" cy="1798103"/>
          </a:xfrm>
          <a:prstGeom prst="ellipse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9200AE-3E7F-2A2B-5AF5-3AE706BE5CC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500" b="12500"/>
          <a:stretch>
            <a:fillRect/>
          </a:stretch>
        </p:blipFill>
        <p:spPr>
          <a:xfrm>
            <a:off x="5165153" y="1684147"/>
            <a:ext cx="1775830" cy="177583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Команда собралась на дисциплине ПД</a:t>
            </a:r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Наша команда:</a:t>
            </a:r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Учёт реальной кривизны дорог, особенно для пеших техников, учёт естественного трафика на дорогах Москвы и других городов, подключили </a:t>
            </a:r>
            <a:r>
              <a:rPr lang="en-US" dirty="0">
                <a:solidFill>
                  <a:schemeClr val="tx1"/>
                </a:solidFill>
              </a:rPr>
              <a:t>API OSM</a:t>
            </a:r>
            <a:r>
              <a:rPr lang="ru-RU" dirty="0">
                <a:solidFill>
                  <a:schemeClr val="tx1"/>
                </a:solidFill>
              </a:rPr>
              <a:t>; составление математической модели; перевод задачи с естественного языка в строгую формальную постановку.</a:t>
            </a: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Сложности и как их преодолели:</a:t>
            </a:r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участники команды уже занимались задачами оптимизации и составления расписаний в частности</a:t>
            </a: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выбрали эту задачу?</a:t>
            </a:r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  <p:sp>
        <p:nvSpPr>
          <p:cNvPr id="3" name="Скругленный прямоугольник 1">
            <a:extLst>
              <a:ext uri="{FF2B5EF4-FFF2-40B4-BE49-F238E27FC236}">
                <a16:creationId xmlns:a16="http://schemas.microsoft.com/office/drawing/2014/main" id="{BCE99650-FE5C-1448-6E97-12A961D4C7A5}"/>
              </a:ext>
            </a:extLst>
          </p:cNvPr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b="1" dirty="0">
                <a:solidFill>
                  <a:schemeClr val="accent2"/>
                </a:solidFill>
              </a:rPr>
              <a:t>67 ИНДУСОВ ПОД КАПОТОМ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Модель VRP-TW-S-C-M: окна 2 ч, навыки, вместимость, мультимодальный парк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Цель: заявка ≫ бригада ≫ километр (веса 10⁶ / 10³ / 1)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4-Pass жадная эвристика → тёплый старт → OR-Tools </a:t>
            </a:r>
            <a:r>
              <a:rPr lang="ru-RU" sz="1600" dirty="0" err="1">
                <a:solidFill>
                  <a:schemeClr val="tx1"/>
                </a:solidFill>
              </a:rPr>
              <a:t>Guided</a:t>
            </a:r>
            <a:r>
              <a:rPr lang="ru-RU" sz="1600" dirty="0">
                <a:solidFill>
                  <a:schemeClr val="tx1"/>
                </a:solidFill>
              </a:rPr>
              <a:t> Local Search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Расстояния по графам OSM (OSRM, FOSSGIS), 100% плеч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Независимый валидатор: окна, смены, навыки, вместимость</a:t>
            </a: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1600" dirty="0" err="1">
                <a:solidFill>
                  <a:schemeClr val="tx1"/>
                </a:solidFill>
              </a:rPr>
              <a:t>Вдальнейшем</a:t>
            </a:r>
            <a:r>
              <a:rPr lang="ru-RU" sz="1600" dirty="0">
                <a:solidFill>
                  <a:schemeClr val="tx1"/>
                </a:solidFill>
              </a:rPr>
              <a:t> решение может быть: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Интегрировано непосредственно в округа Восток, </a:t>
            </a:r>
            <a:r>
              <a:rPr lang="ru-RU" sz="1600" dirty="0" err="1">
                <a:solidFill>
                  <a:schemeClr val="tx1"/>
                </a:solidFill>
              </a:rPr>
              <a:t>Югоцентр</a:t>
            </a:r>
            <a:r>
              <a:rPr lang="ru-RU" sz="1600" dirty="0">
                <a:solidFill>
                  <a:schemeClr val="tx1"/>
                </a:solidFill>
              </a:rPr>
              <a:t>, Юго-восток что приведёт к −26% бригад, −40% км на заявку в среднем.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Масштабирование на другие округа и типы бригад</a:t>
            </a:r>
          </a:p>
          <a:p>
            <a:pPr>
              <a:defRPr/>
            </a:pPr>
            <a:r>
              <a:rPr lang="ru-RU" sz="1600" dirty="0">
                <a:solidFill>
                  <a:schemeClr val="tx1"/>
                </a:solidFill>
              </a:rPr>
              <a:t>Интеграция с системой приёма заявок в автономном режиме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4"/>
            <a:ext cx="4467754" cy="365126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425051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50671869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9896725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05219055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06338296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  <p:sp>
        <p:nvSpPr>
          <p:cNvPr id="1233537166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2400" b="1">
                <a:solidFill>
                  <a:srgbClr val="520978"/>
                </a:solidFill>
              </a:rPr>
              <a:t>205 из 205</a:t>
            </a:r>
          </a:p>
        </p:txBody>
      </p:sp>
      <p:sp>
        <p:nvSpPr>
          <p:cNvPr id="474682657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>
                <a:solidFill>
                  <a:srgbClr val="1C1D22"/>
                </a:solidFill>
              </a:rPr>
              <a:t>заявок выполнено (Baseline FIFO: 147)</a:t>
            </a:r>
          </a:p>
        </p:txBody>
      </p:sp>
      <p:sp>
        <p:nvSpPr>
          <p:cNvPr id="802416208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2400" b="1">
                <a:solidFill>
                  <a:srgbClr val="520978"/>
                </a:solidFill>
              </a:rPr>
              <a:t>43 → 32 бригады</a:t>
            </a:r>
          </a:p>
        </p:txBody>
      </p:sp>
      <p:sp>
        <p:nvSpPr>
          <p:cNvPr id="309289454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 dirty="0">
                <a:solidFill>
                  <a:srgbClr val="1C1D22"/>
                </a:solidFill>
              </a:rPr>
              <a:t>−26% ФОТ: от −9% на Востоке до −33% на Юго-востоке</a:t>
            </a:r>
          </a:p>
        </p:txBody>
      </p:sp>
      <p:sp>
        <p:nvSpPr>
          <p:cNvPr id="12186484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2400" b="1">
                <a:solidFill>
                  <a:srgbClr val="520978"/>
                </a:solidFill>
              </a:rPr>
              <a:t>7.51 → 4.53 км</a:t>
            </a:r>
          </a:p>
        </p:txBody>
      </p:sp>
      <p:sp>
        <p:nvSpPr>
          <p:cNvPr id="72379139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>
                <a:solidFill>
                  <a:srgbClr val="1C1D22"/>
                </a:solidFill>
              </a:rPr>
              <a:t>пробег на выполненную заявку, −40%</a:t>
            </a:r>
          </a:p>
        </p:txBody>
      </p:sp>
      <p:graphicFrame>
        <p:nvGraphicFramePr>
          <p:cNvPr id="668511626" name="Диаграмма 9"/>
          <p:cNvGraphicFramePr>
            <a:graphicFrameLocks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481421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63648" cy="376138"/>
          </a:xfrm>
        </p:spPr>
        <p:txBody>
          <a:bodyPr/>
          <a:lstStyle/>
          <a:p>
            <a:pPr>
              <a:defRPr/>
            </a:pPr>
            <a:r>
              <a:rPr lang="ru-RU"/>
              <a:t>РЕЗУЛЬТАТЫ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512064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17109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2000" b="1">
                <a:solidFill>
                  <a:srgbClr val="520978"/>
                </a:solidFill>
              </a:rPr>
              <a:t>4-Pass эвристика</a:t>
            </a:r>
          </a:p>
          <a:p>
            <a:pPr marL="0" indent="0">
              <a:buNone/>
              <a:defRPr/>
            </a:pPr>
            <a:r>
              <a:rPr lang="ru-RU" sz="1600" b="0">
                <a:solidFill>
                  <a:srgbClr val="1C1D22"/>
                </a:solidFill>
              </a:rPr>
              <a:t>Очереди: аварии на ТКД → подключения → ремонты → дозаказы. Быстрый гарантированно допустимый план.</a:t>
            </a:r>
          </a:p>
        </p:txBody>
      </p:sp>
      <p:sp>
        <p:nvSpPr>
          <p:cNvPr id="1021543870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2000" b="1">
                <a:solidFill>
                  <a:srgbClr val="520978"/>
                </a:solidFill>
              </a:rPr>
              <a:t>Google OR-Tools</a:t>
            </a:r>
          </a:p>
          <a:p>
            <a:pPr marL="0" indent="0">
              <a:buNone/>
              <a:defRPr/>
            </a:pPr>
            <a:r>
              <a:rPr lang="ru-RU" sz="1600" b="0">
                <a:solidFill>
                  <a:srgbClr val="1C1D22"/>
                </a:solidFill>
              </a:rPr>
              <a:t>Тёплый старт и Guided Local Search: окна, смена, навыки, вместимость, глобальное перераспределение.</a:t>
            </a: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sz="2000" b="1">
                <a:solidFill>
                  <a:srgbClr val="520978"/>
                </a:solidFill>
              </a:rPr>
              <a:t>Валидатор и XAI</a:t>
            </a:r>
          </a:p>
          <a:p>
            <a:pPr marL="0" indent="0">
              <a:buNone/>
              <a:defRPr/>
            </a:pPr>
            <a:r>
              <a:rPr lang="ru-RU" sz="1600" b="0">
                <a:solidFill>
                  <a:srgbClr val="1C1D22"/>
                </a:solidFill>
              </a:rPr>
              <a:t>Независимый пересчёт всех маршрутов и понятное объяснение каждого назначения.</a:t>
            </a:r>
          </a:p>
        </p:txBody>
      </p:sp>
      <p:cxnSp>
        <p:nvCxnSpPr>
          <p:cNvPr id="40055161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133576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749588672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197120625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221184223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АРХИТЕКТУРА РЕШЕНИЯ</a:t>
            </a:r>
          </a:p>
        </p:txBody>
      </p:sp>
      <p:cxnSp>
        <p:nvCxnSpPr>
          <p:cNvPr id="1633715086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5" y="324562"/>
            <a:ext cx="512064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800" b="1">
                <a:solidFill>
                  <a:srgbClr val="520978"/>
                </a:solidFill>
              </a:rPr>
              <a:t>Контроль SLA</a:t>
            </a: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>
                <a:solidFill>
                  <a:srgbClr val="1C1D22"/>
                </a:solidFill>
              </a:rPr>
              <a:t>Запас до срыва окна на каждой остановке: &gt;30 мин, 15–30 мин, &lt;15 мин.</a:t>
            </a: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800" b="1">
                <a:solidFill>
                  <a:srgbClr val="520978"/>
                </a:solidFill>
              </a:rPr>
              <a:t>Ручное назначение</a:t>
            </a: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>
                <a:solidFill>
                  <a:srgbClr val="1C1D22"/>
                </a:solidFill>
              </a:rPr>
              <a:t>Проверка навыков, смены и нового времени прибытия до передачи заявки.</a:t>
            </a: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800" b="1">
                <a:solidFill>
                  <a:srgbClr val="520978"/>
                </a:solidFill>
              </a:rPr>
              <a:t>Инциденты</a:t>
            </a: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>
                <a:solidFill>
                  <a:srgbClr val="1C1D22"/>
                </a:solidFill>
              </a:rPr>
              <a:t>Отмена, поломка транспорта, срочная авария на ТКД: план пересчитывается сразу.</a:t>
            </a: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800" b="1">
                <a:solidFill>
                  <a:srgbClr val="520978"/>
                </a:solidFill>
              </a:rPr>
              <a:t>Путевой лист и XAI</a:t>
            </a: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1400">
                <a:solidFill>
                  <a:srgbClr val="1C1D22"/>
                </a:solidFill>
              </a:rPr>
              <a:t>Печатный наряд инженера и объяснение каждого назначения.</a:t>
            </a: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ВОЗМОЖНОСТИ ДИСПЕТЧЕРА</a:t>
            </a:r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>
                <a:solidFill>
                  <a:srgbClr val="FF0053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000"/>
              <a:t>СПАСИБО ЗА ВНИМАНИЕ</a:t>
            </a:r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/>
              <a:t>github.com/EzhAlex12/bilain_hack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548</Words>
  <Application>Microsoft Office PowerPoint</Application>
  <PresentationFormat>Широкоэкранный</PresentationFormat>
  <Paragraphs>97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Montserrat</vt:lpstr>
      <vt:lpstr>Wingdings</vt:lpstr>
      <vt:lpstr>Для Академия инноваторов 16_9</vt:lpstr>
      <vt:lpstr>Презентация PowerPoint</vt:lpstr>
      <vt:lpstr>О НАШЕМ РЕШЕНИИ</vt:lpstr>
      <vt:lpstr>КОМАНДА</vt:lpstr>
      <vt:lpstr>Презентация PowerPoint</vt:lpstr>
      <vt:lpstr>КОРОТКО О РЕШЕНИИ</vt:lpstr>
      <vt:lpstr>РЕЗУЛЬТАТЫ</vt:lpstr>
      <vt:lpstr>АРХИТЕКТУРА РЕШЕНИЯ</vt:lpstr>
      <vt:lpstr>ВОЗМОЖНОСТИ ДИСПЕТЧЕРА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Vlad</cp:lastModifiedBy>
  <cp:revision>99</cp:revision>
  <dcterms:created xsi:type="dcterms:W3CDTF">2023-05-15T07:36:23Z</dcterms:created>
  <dcterms:modified xsi:type="dcterms:W3CDTF">2026-09-29T14:48:02Z</dcterms:modified>
</cp:coreProperties>
</file>